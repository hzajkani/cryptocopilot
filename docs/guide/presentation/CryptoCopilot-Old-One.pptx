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macro F1</c:v>
                </c:pt>
              </c:strCache>
            </c:strRef>
          </c:tx>
          <c:spPr>
            <a:solidFill>
              <a:srgbClr val="94A3B8"/>
            </a:solidFill>
            <a:effectLst/>
          </c:spPr>
          <c:invertIfNegative val="0"/>
          <c:dLbls>
            <c:numFmt formatCode="0.00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0D9488"/>
              </a:solidFill>
              <a:effectLst/>
            </c:spPr>
          </c:dPt>
          <c:dPt>
            <c:idx val="2"/>
            <c:invertIfNegative val="0"/>
            <c:bubble3D val="0"/>
            <c:spPr>
              <a:solidFill>
                <a:srgbClr val="CBD5E1"/>
              </a:solidFill>
              <a:effectLst/>
            </c:spPr>
          </c:dPt>
          <c:cat>
            <c:multiLvlStrRef>
              <c:f>Sheet1!$A$2:$A$4</c:f>
              <c:multiLvlStrCache>
                <c:ptCount val="3"/>
                <c:lvl>
                  <c:pt idx="0">
                    <c:v>LogReg baseline</c:v>
                  </c:pt>
                  <c:pt idx="1">
                    <c:v>XGBoost (mine)</c:v>
                  </c:pt>
                  <c:pt idx="2">
                    <c:v>My target</c:v>
                  </c:pt>
                </c:lvl>
              </c:multiLvlStrCache>
            </c:multiLvlStrRef>
          </c:cat>
          <c:val>
            <c:numRef>
              <c:f>Sheet1!$B$2:$B$4</c:f>
              <c:numCache>
                <c:formatCode>General</c:formatCode>
                <c:ptCount val="3"/>
                <c:pt idx="0">
                  <c:v>0.292</c:v>
                </c:pt>
                <c:pt idx="1">
                  <c:v>0.375</c:v>
                </c:pt>
                <c:pt idx="2">
                  <c:v>0.4</c:v>
                </c:pt>
              </c:numCache>
            </c:numRef>
          </c:val>
        </c:ser>
        <c:dLbls>
          <c:numFmt formatCode="0.000" sourceLinked="0"/>
          <c:txPr>
            <a:bodyPr/>
            <a:lstStyle/>
            <a:p>
              <a:pPr>
                <a:defRPr b="0" i="0" strike="noStrike" sz="10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Kamran. I'm a backend engineer moving into ML engineering. I built CryptoCopilot — a crypto trading copilot that is explainable and paper-only. It's a polyglot system: Python for the ML, Java and Spring Boot for the application, React on top, four Docker containers around one Postgres database. In the next few minutes I'll show the architecture, the machine learning, and a quick demo. Everything here is decision-support, not financial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crypto decisions are noisy and emotional, and most tools are either black-box signals you can't question, or good data locked behind paywalls. I wanted the opposite: a system that explains every signal, runs entirely on free public data, and proves I can ship a production-grade polyglot fintech backend. The goal was never to beat the market — it's decision-support you can actually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ten coins, CryptoCopilot fuses four perspectives — an ML direction signal, a deterministic technical-analysis verdict, a fundamental snapshot, and a cited chat over news and on-chain data — into one explainable Analyst opinion. You can act on it with a paper trade. No real money, ever. Every signal is auditable and every trade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engineering core. Four containers, one shared Postgres with the pgvector extension. The database is the polyglot boundary: Python writes its tables, Java reads them read-only — no RPC, no shared model files. The backend is deliberately a modular monolith, not microservices — for a single-user system, microservices would only add operational pain. Containers are about runtimes, not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I'm proudest of — the honesty. The model is XGBoost with Optuna tuning, isotonic calibration, and SHAP for the top drivers. Out of sample: AUC 0.578, right in the band I expected; Brier 0.608, so the probabilities are well-calibrated. Macro F1 is 0.375 — below my 0.40 target. I investigated it across leakage, target window, and class balance, and it's a genuine data-limited ceiling: predicting 24-hour rallies in a calm market is near the noise floor. That's exactly why this is explainable decision-support and paper-only — never an autopilot. And it still beats the logistic-regression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data sources are public and free. I learned this the hard way — CryptoPanic, Glassnode, and the CoinDesk API all died or went paywalled in 2025 and 26. So I designed around resilient public infrastructure: Binance for prices, CoinGecko's free tier, five RSS feeds with local sentiment, Blockchain.com and Etherscan for on-chain. If any source goes down, the pipeline logs and skips — it never crashes. That's about 231,000 rows ingested.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is retrieval-augmented with Spring AI and pgvector — around 256 chunks from news, on-chain summaries, fundamentals, and a hand-written knowledge base. It's grounded by construction: it refuses to give trading advice, it refuses when the context doesn't cover the question, and every answer must carry a citation — if it can't cite, the answer is replaced with a refusal. So it can't hallucinate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it running locally. I'll open Markets, pick a signal and show its top SHAP drivers, then ask the Analyst a question and get a cited answer, place a paper trade, and look at the performance view. (If you play a recording instead, say: this is a short recording of the running app.) Keep this to about 60–90 seconds and narrate what each screen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decisions I'd call out: the database as the polyglot boundary; a modular monolith instead of microservices; honest metrics over vanity numbers; and a resilient free-data design. The stack is Java 21 and Spring Boot with Spring AI and ta4j, Python with XGBoost and SHAP, React and TypeScript, all on Postgres with pgvector in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CryptoCopilot — explainable, resilient, and paper-only. The code is public on GitHub. Thanks — I'm happy to dig into any part of it: the polyglot boundary, the calibration, the RAG guards, whatever you're curious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589520" y="-1005840"/>
            <a:ext cx="3291840" cy="3291840"/>
          </a:xfrm>
          <a:prstGeom prst="ellipse">
            <a:avLst/>
          </a:prstGeom>
          <a:solidFill>
            <a:srgbClr val="1E293B"/>
          </a:solidFill>
          <a:ln/>
        </p:spPr>
      </p:sp>
      <p:sp>
        <p:nvSpPr>
          <p:cNvPr id="3" name="Shape 1"/>
          <p:cNvSpPr/>
          <p:nvPr/>
        </p:nvSpPr>
        <p:spPr>
          <a:xfrm>
            <a:off x="8321040" y="3291840"/>
            <a:ext cx="2560320" cy="2560320"/>
          </a:xfrm>
          <a:prstGeom prst="ellipse">
            <a:avLst/>
          </a:prstGeom>
          <a:solidFill>
            <a:srgbClr val="1E293B"/>
          </a:solidFill>
          <a:ln/>
        </p:spPr>
      </p:sp>
      <p:sp>
        <p:nvSpPr>
          <p:cNvPr id="4" name="Shape 2"/>
          <p:cNvSpPr/>
          <p:nvPr/>
        </p:nvSpPr>
        <p:spPr>
          <a:xfrm>
            <a:off x="0" y="0"/>
            <a:ext cx="128016" cy="5143500"/>
          </a:xfrm>
          <a:prstGeom prst="rect">
            <a:avLst/>
          </a:prstGeom>
          <a:solidFill>
            <a:srgbClr val="0D9488"/>
          </a:solidFill>
          <a:ln/>
        </p:spPr>
      </p:sp>
      <p:sp>
        <p:nvSpPr>
          <p:cNvPr id="5" name="Text 3"/>
          <p:cNvSpPr/>
          <p:nvPr/>
        </p:nvSpPr>
        <p:spPr>
          <a:xfrm>
            <a:off x="640080" y="1371600"/>
            <a:ext cx="7863840" cy="914400"/>
          </a:xfrm>
          <a:prstGeom prst="rect">
            <a:avLst/>
          </a:prstGeom>
          <a:noFill/>
          <a:ln/>
        </p:spPr>
        <p:txBody>
          <a:bodyPr wrap="square" lIns="0" tIns="0" rIns="0" bIns="0"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CryptoCopilot</a:t>
            </a:r>
            <a:endParaRPr lang="en-US" sz="5200" dirty="0"/>
          </a:p>
        </p:txBody>
      </p:sp>
      <p:sp>
        <p:nvSpPr>
          <p:cNvPr id="6" name="Text 4"/>
          <p:cNvSpPr/>
          <p:nvPr/>
        </p:nvSpPr>
        <p:spPr>
          <a:xfrm>
            <a:off x="658368" y="2286000"/>
            <a:ext cx="7315200" cy="457200"/>
          </a:xfrm>
          <a:prstGeom prst="rect">
            <a:avLst/>
          </a:prstGeom>
          <a:noFill/>
          <a:ln/>
        </p:spPr>
        <p:txBody>
          <a:bodyPr wrap="square" lIns="0" tIns="0" rIns="0" bIns="0" rtlCol="0" anchor="ctr"/>
          <a:lstStyle/>
          <a:p>
            <a:pPr indent="0" marL="0">
              <a:buNone/>
            </a:pPr>
            <a:r>
              <a:rPr lang="en-US" sz="2200" i="1" dirty="0">
                <a:solidFill>
                  <a:srgbClr val="2DD4BF"/>
                </a:solidFill>
                <a:latin typeface="Georgia" pitchFamily="34" charset="0"/>
                <a:ea typeface="Georgia" pitchFamily="34" charset="-122"/>
                <a:cs typeface="Georgia" pitchFamily="34" charset="-120"/>
              </a:rPr>
              <a:t>Polyglot Edition</a:t>
            </a:r>
            <a:endParaRPr lang="en-US" sz="2200" dirty="0"/>
          </a:p>
        </p:txBody>
      </p:sp>
      <p:sp>
        <p:nvSpPr>
          <p:cNvPr id="7" name="Text 5"/>
          <p:cNvSpPr/>
          <p:nvPr/>
        </p:nvSpPr>
        <p:spPr>
          <a:xfrm>
            <a:off x="658368" y="2788920"/>
            <a:ext cx="7498080" cy="731520"/>
          </a:xfrm>
          <a:prstGeom prst="rect">
            <a:avLst/>
          </a:prstGeom>
          <a:noFill/>
          <a:ln/>
        </p:spPr>
        <p:txBody>
          <a:bodyPr wrap="square" lIns="0" tIns="0" rIns="0" bIns="0" rtlCol="0" anchor="ctr"/>
          <a:lstStyle/>
          <a:p>
            <a:pPr indent="0" marL="0">
              <a:lnSpc>
                <a:spcPct val="110000"/>
              </a:lnSpc>
              <a:buNone/>
            </a:pPr>
            <a:r>
              <a:rPr lang="en-US" sz="1500" dirty="0">
                <a:solidFill>
                  <a:srgbClr val="94A3B8"/>
                </a:solidFill>
                <a:latin typeface="Calibri" pitchFamily="34" charset="0"/>
                <a:ea typeface="Calibri" pitchFamily="34" charset="-122"/>
                <a:cs typeface="Calibri" pitchFamily="34" charset="-120"/>
              </a:rPr>
              <a:t>An explainable crypto trading copilot — ML + technical analysis + RAG,</a:t>
            </a:r>
            <a:endParaRPr lang="en-US" sz="1500" dirty="0"/>
          </a:p>
          <a:p>
            <a:pPr indent="0" marL="0">
              <a:lnSpc>
                <a:spcPct val="110000"/>
              </a:lnSpc>
              <a:buNone/>
            </a:pPr>
            <a:r>
              <a:rPr lang="en-US" sz="1500" dirty="0">
                <a:solidFill>
                  <a:srgbClr val="94A3B8"/>
                </a:solidFill>
                <a:latin typeface="Calibri" pitchFamily="34" charset="0"/>
                <a:ea typeface="Calibri" pitchFamily="34" charset="-122"/>
                <a:cs typeface="Calibri" pitchFamily="34" charset="-120"/>
              </a:rPr>
              <a:t>fused into one paper-trading system.</a:t>
            </a:r>
            <a:endParaRPr lang="en-US" sz="1500" dirty="0"/>
          </a:p>
        </p:txBody>
      </p:sp>
      <p:sp>
        <p:nvSpPr>
          <p:cNvPr id="8" name="Text 6"/>
          <p:cNvSpPr/>
          <p:nvPr/>
        </p:nvSpPr>
        <p:spPr>
          <a:xfrm>
            <a:off x="658368" y="3977640"/>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Kamran Zajkani</a:t>
            </a:r>
            <a:pPr indent="0" marL="0">
              <a:buNone/>
            </a:pPr>
            <a:r>
              <a:rPr lang="en-US" sz="1400" dirty="0">
                <a:solidFill>
                  <a:srgbClr val="94A3B8"/>
                </a:solidFill>
                <a:latin typeface="Calibri" pitchFamily="34" charset="0"/>
                <a:ea typeface="Calibri" pitchFamily="34" charset="-122"/>
                <a:cs typeface="Calibri" pitchFamily="34" charset="-120"/>
              </a:rPr>
              <a:t>   ·   Backend &amp; ML Engineer</a:t>
            </a:r>
            <a:endParaRPr lang="en-US" sz="1400" dirty="0"/>
          </a:p>
        </p:txBody>
      </p:sp>
      <p:sp>
        <p:nvSpPr>
          <p:cNvPr id="9" name="Text 7"/>
          <p:cNvSpPr/>
          <p:nvPr/>
        </p:nvSpPr>
        <p:spPr>
          <a:xfrm>
            <a:off x="658368" y="4343400"/>
            <a:ext cx="7772400" cy="320040"/>
          </a:xfrm>
          <a:prstGeom prst="rect">
            <a:avLst/>
          </a:prstGeom>
          <a:noFill/>
          <a:ln/>
        </p:spPr>
        <p:txBody>
          <a:bodyPr wrap="square" lIns="0" tIns="0" rIns="0" bIns="0" rtlCol="0" anchor="ctr"/>
          <a:lstStyle/>
          <a:p>
            <a:pPr indent="0" marL="0">
              <a:buNone/>
            </a:pPr>
            <a:r>
              <a:rPr lang="en-US" sz="1200" dirty="0">
                <a:solidFill>
                  <a:srgbClr val="2DD4BF"/>
                </a:solidFill>
                <a:latin typeface="Consolas" pitchFamily="34" charset="0"/>
                <a:ea typeface="Consolas" pitchFamily="34" charset="-122"/>
                <a:cs typeface="Consolas" pitchFamily="34" charset="-120"/>
              </a:rPr>
              <a:t>github.com/hzajkani/cryptocopilot</a:t>
            </a:r>
            <a:pPr indent="0" marL="0">
              <a:buNone/>
            </a:pPr>
            <a:r>
              <a:rPr lang="en-US" sz="1200" dirty="0">
                <a:solidFill>
                  <a:srgbClr val="94A3B8"/>
                </a:solidFill>
                <a:latin typeface="Calibri" pitchFamily="34" charset="0"/>
                <a:ea typeface="Calibri" pitchFamily="34" charset="-122"/>
                <a:cs typeface="Calibri" pitchFamily="34" charset="-120"/>
              </a:rPr>
              <a:t>      Career Demo Day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WHY I BUILT THIS</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Explainable, resilient, honest — by design</a:t>
            </a:r>
            <a:endParaRPr lang="en-US" sz="3000" dirty="0"/>
          </a:p>
        </p:txBody>
      </p:sp>
      <p:sp>
        <p:nvSpPr>
          <p:cNvPr id="4" name="Shape 2"/>
          <p:cNvSpPr/>
          <p:nvPr/>
        </p:nvSpPr>
        <p:spPr>
          <a:xfrm>
            <a:off x="502920" y="1508760"/>
            <a:ext cx="384048" cy="384048"/>
          </a:xfrm>
          <a:prstGeom prst="ellipse">
            <a:avLst/>
          </a:prstGeom>
          <a:solidFill>
            <a:srgbClr val="F1F5F9"/>
          </a:solidFill>
          <a:ln w="12700">
            <a:solidFill>
              <a:srgbClr val="E2E8F0"/>
            </a:solidFill>
            <a:prstDash val="solid"/>
          </a:ln>
        </p:spPr>
      </p:sp>
      <p:sp>
        <p:nvSpPr>
          <p:cNvPr id="5" name="Text 3"/>
          <p:cNvSpPr/>
          <p:nvPr/>
        </p:nvSpPr>
        <p:spPr>
          <a:xfrm>
            <a:off x="502920" y="1508760"/>
            <a:ext cx="384048" cy="384048"/>
          </a:xfrm>
          <a:prstGeom prst="rect">
            <a:avLst/>
          </a:prstGeom>
          <a:noFill/>
          <a:ln/>
        </p:spPr>
        <p:txBody>
          <a:bodyPr wrap="square" lIns="0" tIns="0" rIns="0" bIns="0" rtlCol="0" anchor="ctr"/>
          <a:lstStyle/>
          <a:p>
            <a:pPr algn="ctr" indent="0" marL="0">
              <a:buNone/>
            </a:pPr>
            <a:r>
              <a:rPr lang="en-US" sz="1500" b="1" dirty="0">
                <a:solidFill>
                  <a:srgbClr val="64748B"/>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472184"/>
            <a:ext cx="429768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Decisions are noisy</a:t>
            </a:r>
            <a:endParaRPr lang="en-US" sz="1700" dirty="0"/>
          </a:p>
        </p:txBody>
      </p:sp>
      <p:sp>
        <p:nvSpPr>
          <p:cNvPr id="7" name="Text 5"/>
          <p:cNvSpPr/>
          <p:nvPr/>
        </p:nvSpPr>
        <p:spPr>
          <a:xfrm>
            <a:off x="1097280" y="1837944"/>
            <a:ext cx="4297680" cy="640080"/>
          </a:xfrm>
          <a:prstGeom prst="rect">
            <a:avLst/>
          </a:prstGeom>
          <a:noFill/>
          <a:ln/>
        </p:spPr>
        <p:txBody>
          <a:bodyPr wrap="square" lIns="0" tIns="0" rIns="0" bIns="0" rtlCol="0" anchor="ctr"/>
          <a:lstStyle/>
          <a:p>
            <a:pPr indent="0" marL="0">
              <a:lnSpc>
                <a:spcPct val="105000"/>
              </a:lnSpc>
              <a:buNone/>
            </a:pPr>
            <a:r>
              <a:rPr lang="en-US" sz="1250" dirty="0">
                <a:solidFill>
                  <a:srgbClr val="334155"/>
                </a:solidFill>
                <a:latin typeface="Calibri" pitchFamily="34" charset="0"/>
                <a:ea typeface="Calibri" pitchFamily="34" charset="-122"/>
                <a:cs typeface="Calibri" pitchFamily="34" charset="-120"/>
              </a:rPr>
              <a:t>Retail crypto trading is emotional and reactive. People need context, not just a green or red arrow.</a:t>
            </a:r>
            <a:endParaRPr lang="en-US" sz="1250" dirty="0"/>
          </a:p>
        </p:txBody>
      </p:sp>
      <p:sp>
        <p:nvSpPr>
          <p:cNvPr id="8" name="Shape 6"/>
          <p:cNvSpPr/>
          <p:nvPr/>
        </p:nvSpPr>
        <p:spPr>
          <a:xfrm>
            <a:off x="502920" y="2587752"/>
            <a:ext cx="384048" cy="384048"/>
          </a:xfrm>
          <a:prstGeom prst="ellipse">
            <a:avLst/>
          </a:prstGeom>
          <a:solidFill>
            <a:srgbClr val="F1F5F9"/>
          </a:solidFill>
          <a:ln w="12700">
            <a:solidFill>
              <a:srgbClr val="E2E8F0"/>
            </a:solidFill>
            <a:prstDash val="solid"/>
          </a:ln>
        </p:spPr>
      </p:sp>
      <p:sp>
        <p:nvSpPr>
          <p:cNvPr id="9" name="Text 7"/>
          <p:cNvSpPr/>
          <p:nvPr/>
        </p:nvSpPr>
        <p:spPr>
          <a:xfrm>
            <a:off x="502920" y="2587752"/>
            <a:ext cx="384048" cy="384048"/>
          </a:xfrm>
          <a:prstGeom prst="rect">
            <a:avLst/>
          </a:prstGeom>
          <a:noFill/>
          <a:ln/>
        </p:spPr>
        <p:txBody>
          <a:bodyPr wrap="square" lIns="0" tIns="0" rIns="0" bIns="0" rtlCol="0" anchor="ctr"/>
          <a:lstStyle/>
          <a:p>
            <a:pPr algn="ctr" indent="0" marL="0">
              <a:buNone/>
            </a:pPr>
            <a:r>
              <a:rPr lang="en-US" sz="1500" b="1" dirty="0">
                <a:solidFill>
                  <a:srgbClr val="64748B"/>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097280" y="2551176"/>
            <a:ext cx="429768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Tools are black boxes — or paywalled</a:t>
            </a:r>
            <a:endParaRPr lang="en-US" sz="1700" dirty="0"/>
          </a:p>
        </p:txBody>
      </p:sp>
      <p:sp>
        <p:nvSpPr>
          <p:cNvPr id="11" name="Text 9"/>
          <p:cNvSpPr/>
          <p:nvPr/>
        </p:nvSpPr>
        <p:spPr>
          <a:xfrm>
            <a:off x="1097280" y="2916936"/>
            <a:ext cx="4297680" cy="640080"/>
          </a:xfrm>
          <a:prstGeom prst="rect">
            <a:avLst/>
          </a:prstGeom>
          <a:noFill/>
          <a:ln/>
        </p:spPr>
        <p:txBody>
          <a:bodyPr wrap="square" lIns="0" tIns="0" rIns="0" bIns="0" rtlCol="0" anchor="ctr"/>
          <a:lstStyle/>
          <a:p>
            <a:pPr indent="0" marL="0">
              <a:lnSpc>
                <a:spcPct val="105000"/>
              </a:lnSpc>
              <a:buNone/>
            </a:pPr>
            <a:r>
              <a:rPr lang="en-US" sz="1250" dirty="0">
                <a:solidFill>
                  <a:srgbClr val="334155"/>
                </a:solidFill>
                <a:latin typeface="Calibri" pitchFamily="34" charset="0"/>
                <a:ea typeface="Calibri" pitchFamily="34" charset="-122"/>
                <a:cs typeface="Calibri" pitchFamily="34" charset="-120"/>
              </a:rPr>
              <a:t>Signal apps don't explain themselves; the good data sits behind expensive APIs.</a:t>
            </a:r>
            <a:endParaRPr lang="en-US" sz="1250" dirty="0"/>
          </a:p>
        </p:txBody>
      </p:sp>
      <p:sp>
        <p:nvSpPr>
          <p:cNvPr id="12" name="Shape 10"/>
          <p:cNvSpPr/>
          <p:nvPr/>
        </p:nvSpPr>
        <p:spPr>
          <a:xfrm>
            <a:off x="502920" y="3666744"/>
            <a:ext cx="384048" cy="384048"/>
          </a:xfrm>
          <a:prstGeom prst="ellipse">
            <a:avLst/>
          </a:prstGeom>
          <a:solidFill>
            <a:srgbClr val="0D9488"/>
          </a:solidFill>
          <a:ln w="12700">
            <a:solidFill>
              <a:srgbClr val="0D9488"/>
            </a:solidFill>
            <a:prstDash val="solid"/>
          </a:ln>
        </p:spPr>
      </p:sp>
      <p:sp>
        <p:nvSpPr>
          <p:cNvPr id="13" name="Text 11"/>
          <p:cNvSpPr/>
          <p:nvPr/>
        </p:nvSpPr>
        <p:spPr>
          <a:xfrm>
            <a:off x="502920" y="36667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97280" y="3630168"/>
            <a:ext cx="429768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I wanted to prove the engineering</a:t>
            </a:r>
            <a:endParaRPr lang="en-US" sz="1700" dirty="0"/>
          </a:p>
        </p:txBody>
      </p:sp>
      <p:sp>
        <p:nvSpPr>
          <p:cNvPr id="15" name="Text 13"/>
          <p:cNvSpPr/>
          <p:nvPr/>
        </p:nvSpPr>
        <p:spPr>
          <a:xfrm>
            <a:off x="1097280" y="3995928"/>
            <a:ext cx="4297680" cy="640080"/>
          </a:xfrm>
          <a:prstGeom prst="rect">
            <a:avLst/>
          </a:prstGeom>
          <a:noFill/>
          <a:ln/>
        </p:spPr>
        <p:txBody>
          <a:bodyPr wrap="square" lIns="0" tIns="0" rIns="0" bIns="0" rtlCol="0" anchor="ctr"/>
          <a:lstStyle/>
          <a:p>
            <a:pPr indent="0" marL="0">
              <a:lnSpc>
                <a:spcPct val="105000"/>
              </a:lnSpc>
              <a:buNone/>
            </a:pPr>
            <a:r>
              <a:rPr lang="en-US" sz="1250" dirty="0">
                <a:solidFill>
                  <a:srgbClr val="334155"/>
                </a:solidFill>
                <a:latin typeface="Calibri" pitchFamily="34" charset="0"/>
                <a:ea typeface="Calibri" pitchFamily="34" charset="-122"/>
                <a:cs typeface="Calibri" pitchFamily="34" charset="-120"/>
              </a:rPr>
              <a:t>A production-grade polyglot fintech backend: Python ML + Java/Spring + RAG + full-stack, shipped end-to-end.</a:t>
            </a:r>
            <a:endParaRPr lang="en-US" sz="1250" dirty="0"/>
          </a:p>
        </p:txBody>
      </p:sp>
      <p:sp>
        <p:nvSpPr>
          <p:cNvPr id="16" name="Shape 14"/>
          <p:cNvSpPr/>
          <p:nvPr/>
        </p:nvSpPr>
        <p:spPr>
          <a:xfrm>
            <a:off x="5715000" y="1554480"/>
            <a:ext cx="2926080" cy="2926080"/>
          </a:xfrm>
          <a:prstGeom prst="roundRect">
            <a:avLst>
              <a:gd name="adj" fmla="val 3750"/>
            </a:avLst>
          </a:prstGeom>
          <a:solidFill>
            <a:srgbClr val="0F172A"/>
          </a:solidFill>
          <a:ln/>
          <a:effectLst>
            <a:outerShdw sx="100000" sy="100000" kx="0" ky="0" algn="bl" rotWithShape="0" blurRad="88900" dist="38100" dir="8100000">
              <a:srgbClr val="0F172A">
                <a:alpha val="16000"/>
              </a:srgbClr>
            </a:outerShdw>
          </a:effectLst>
        </p:spPr>
      </p:sp>
      <p:sp>
        <p:nvSpPr>
          <p:cNvPr id="17" name="Text 15"/>
          <p:cNvSpPr/>
          <p:nvPr/>
        </p:nvSpPr>
        <p:spPr>
          <a:xfrm>
            <a:off x="5989320" y="1828800"/>
            <a:ext cx="2377440" cy="27432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THE GOAL</a:t>
            </a:r>
            <a:endParaRPr lang="en-US" sz="1100" dirty="0"/>
          </a:p>
        </p:txBody>
      </p:sp>
      <p:sp>
        <p:nvSpPr>
          <p:cNvPr id="18" name="Text 16"/>
          <p:cNvSpPr/>
          <p:nvPr/>
        </p:nvSpPr>
        <p:spPr>
          <a:xfrm>
            <a:off x="5989320" y="2148840"/>
            <a:ext cx="2468880" cy="868680"/>
          </a:xfrm>
          <a:prstGeom prst="rect">
            <a:avLst/>
          </a:prstGeom>
          <a:noFill/>
          <a:ln/>
        </p:spPr>
        <p:txBody>
          <a:bodyPr wrap="square" lIns="0" tIns="0" rIns="0" bIns="0" rtlCol="0" anchor="ctr"/>
          <a:lstStyle/>
          <a:p>
            <a:pPr indent="0" marL="0">
              <a:lnSpc>
                <a:spcPct val="105000"/>
              </a:lnSpc>
              <a:buNone/>
            </a:pPr>
            <a:r>
              <a:rPr lang="en-US" sz="2100" b="1" dirty="0">
                <a:solidFill>
                  <a:srgbClr val="FFFFFF"/>
                </a:solidFill>
                <a:latin typeface="Georgia" pitchFamily="34" charset="0"/>
                <a:ea typeface="Georgia" pitchFamily="34" charset="-122"/>
                <a:cs typeface="Georgia" pitchFamily="34" charset="-120"/>
              </a:rPr>
              <a:t>Decision-support</a:t>
            </a:r>
            <a:endParaRPr lang="en-US" sz="2100" dirty="0"/>
          </a:p>
          <a:p>
            <a:pPr indent="0" marL="0">
              <a:lnSpc>
                <a:spcPct val="105000"/>
              </a:lnSpc>
              <a:buNone/>
            </a:pPr>
            <a:r>
              <a:rPr lang="en-US" sz="2100" b="1" dirty="0">
                <a:solidFill>
                  <a:srgbClr val="FFFFFF"/>
                </a:solidFill>
                <a:latin typeface="Georgia" pitchFamily="34" charset="0"/>
                <a:ea typeface="Georgia" pitchFamily="34" charset="-122"/>
                <a:cs typeface="Georgia" pitchFamily="34" charset="-120"/>
              </a:rPr>
              <a:t>you can audit —</a:t>
            </a:r>
            <a:endParaRPr lang="en-US" sz="2100" dirty="0"/>
          </a:p>
        </p:txBody>
      </p:sp>
      <p:sp>
        <p:nvSpPr>
          <p:cNvPr id="19" name="Text 17"/>
          <p:cNvSpPr/>
          <p:nvPr/>
        </p:nvSpPr>
        <p:spPr>
          <a:xfrm>
            <a:off x="5989320" y="3063240"/>
            <a:ext cx="2468880" cy="640080"/>
          </a:xfrm>
          <a:prstGeom prst="rect">
            <a:avLst/>
          </a:prstGeom>
          <a:noFill/>
          <a:ln/>
        </p:spPr>
        <p:txBody>
          <a:bodyPr wrap="square" lIns="0" tIns="0" rIns="0" bIns="0" rtlCol="0" anchor="ctr"/>
          <a:lstStyle/>
          <a:p>
            <a:pPr indent="0" marL="0">
              <a:lnSpc>
                <a:spcPct val="110000"/>
              </a:lnSpc>
              <a:buNone/>
            </a:pPr>
            <a:r>
              <a:rPr lang="en-US" sz="1300" dirty="0">
                <a:solidFill>
                  <a:srgbClr val="94A3B8"/>
                </a:solidFill>
                <a:latin typeface="Calibri" pitchFamily="34" charset="0"/>
                <a:ea typeface="Calibri" pitchFamily="34" charset="-122"/>
                <a:cs typeface="Calibri" pitchFamily="34" charset="-120"/>
              </a:rPr>
              <a:t>not a system that promises to beat the market.</a:t>
            </a:r>
            <a:endParaRPr lang="en-US" sz="1300" dirty="0"/>
          </a:p>
        </p:txBody>
      </p:sp>
      <p:sp>
        <p:nvSpPr>
          <p:cNvPr id="20" name="Text 18"/>
          <p:cNvSpPr/>
          <p:nvPr/>
        </p:nvSpPr>
        <p:spPr>
          <a:xfrm>
            <a:off x="5989320" y="3886200"/>
            <a:ext cx="2468880" cy="411480"/>
          </a:xfrm>
          <a:prstGeom prst="rect">
            <a:avLst/>
          </a:prstGeom>
          <a:noFill/>
          <a:ln/>
        </p:spPr>
        <p:txBody>
          <a:bodyPr wrap="square" lIns="0" tIns="0" rIns="0" bIns="0" rtlCol="0" anchor="ctr"/>
          <a:lstStyle/>
          <a:p>
            <a:pPr indent="0" marL="0">
              <a:buNone/>
            </a:pPr>
            <a:r>
              <a:rPr lang="en-US" sz="1200" i="1" dirty="0">
                <a:solidFill>
                  <a:srgbClr val="2DD4BF"/>
                </a:solidFill>
                <a:latin typeface="Calibri" pitchFamily="34" charset="0"/>
                <a:ea typeface="Calibri" pitchFamily="34" charset="-122"/>
                <a:cs typeface="Calibri" pitchFamily="34" charset="-120"/>
              </a:rPr>
              <a:t>Paper-only. No real money, ever.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WHAT IT DOES</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Four perspectives → one explainable Analyst</a:t>
            </a:r>
            <a:endParaRPr lang="en-US" sz="3000" dirty="0"/>
          </a:p>
        </p:txBody>
      </p:sp>
      <p:sp>
        <p:nvSpPr>
          <p:cNvPr id="4" name="Shape 2"/>
          <p:cNvSpPr/>
          <p:nvPr/>
        </p:nvSpPr>
        <p:spPr>
          <a:xfrm>
            <a:off x="502920" y="1508760"/>
            <a:ext cx="1947672" cy="1417320"/>
          </a:xfrm>
          <a:prstGeom prst="roundRect">
            <a:avLst>
              <a:gd name="adj" fmla="val 6452"/>
            </a:avLst>
          </a:prstGeom>
          <a:solidFill>
            <a:srgbClr val="F1F5F9"/>
          </a:solidFill>
          <a:ln w="12700">
            <a:solidFill>
              <a:srgbClr val="E2E8F0"/>
            </a:solidFill>
            <a:prstDash val="solid"/>
          </a:ln>
        </p:spPr>
      </p:sp>
      <p:sp>
        <p:nvSpPr>
          <p:cNvPr id="5" name="Shape 3"/>
          <p:cNvSpPr/>
          <p:nvPr/>
        </p:nvSpPr>
        <p:spPr>
          <a:xfrm>
            <a:off x="502920" y="1508760"/>
            <a:ext cx="1947672" cy="82296"/>
          </a:xfrm>
          <a:prstGeom prst="rect">
            <a:avLst/>
          </a:prstGeom>
          <a:solidFill>
            <a:srgbClr val="0D9488"/>
          </a:solidFill>
          <a:ln/>
        </p:spPr>
      </p:sp>
      <p:sp>
        <p:nvSpPr>
          <p:cNvPr id="6" name="Text 4"/>
          <p:cNvSpPr/>
          <p:nvPr/>
        </p:nvSpPr>
        <p:spPr>
          <a:xfrm>
            <a:off x="649224" y="1682496"/>
            <a:ext cx="169164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ML signal</a:t>
            </a:r>
            <a:endParaRPr lang="en-US" sz="1500" dirty="0"/>
          </a:p>
        </p:txBody>
      </p:sp>
      <p:sp>
        <p:nvSpPr>
          <p:cNvPr id="7" name="Text 5"/>
          <p:cNvSpPr/>
          <p:nvPr/>
        </p:nvSpPr>
        <p:spPr>
          <a:xfrm>
            <a:off x="649224" y="2084832"/>
            <a:ext cx="1691640" cy="777240"/>
          </a:xfrm>
          <a:prstGeom prst="rect">
            <a:avLst/>
          </a:prstGeom>
          <a:noFill/>
          <a:ln/>
        </p:spPr>
        <p:txBody>
          <a:bodyPr wrap="square" lIns="0" tIns="0" rIns="0" bIns="0" rtlCol="0" anchor="ctr"/>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XGBoost direction + calibrated confidence + top SHAP drivers</a:t>
            </a:r>
            <a:endParaRPr lang="en-US" sz="1100" dirty="0"/>
          </a:p>
        </p:txBody>
      </p:sp>
      <p:sp>
        <p:nvSpPr>
          <p:cNvPr id="8" name="Shape 6"/>
          <p:cNvSpPr/>
          <p:nvPr/>
        </p:nvSpPr>
        <p:spPr>
          <a:xfrm>
            <a:off x="2587752" y="1508760"/>
            <a:ext cx="1947672" cy="1417320"/>
          </a:xfrm>
          <a:prstGeom prst="roundRect">
            <a:avLst>
              <a:gd name="adj" fmla="val 6452"/>
            </a:avLst>
          </a:prstGeom>
          <a:solidFill>
            <a:srgbClr val="F1F5F9"/>
          </a:solidFill>
          <a:ln w="12700">
            <a:solidFill>
              <a:srgbClr val="E2E8F0"/>
            </a:solidFill>
            <a:prstDash val="solid"/>
          </a:ln>
        </p:spPr>
      </p:sp>
      <p:sp>
        <p:nvSpPr>
          <p:cNvPr id="9" name="Shape 7"/>
          <p:cNvSpPr/>
          <p:nvPr/>
        </p:nvSpPr>
        <p:spPr>
          <a:xfrm>
            <a:off x="2587752" y="1508760"/>
            <a:ext cx="1947672" cy="82296"/>
          </a:xfrm>
          <a:prstGeom prst="rect">
            <a:avLst/>
          </a:prstGeom>
          <a:solidFill>
            <a:srgbClr val="0D9488"/>
          </a:solidFill>
          <a:ln/>
        </p:spPr>
      </p:sp>
      <p:sp>
        <p:nvSpPr>
          <p:cNvPr id="10" name="Text 8"/>
          <p:cNvSpPr/>
          <p:nvPr/>
        </p:nvSpPr>
        <p:spPr>
          <a:xfrm>
            <a:off x="2734056" y="1682496"/>
            <a:ext cx="169164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TA verdict</a:t>
            </a:r>
            <a:endParaRPr lang="en-US" sz="1500" dirty="0"/>
          </a:p>
        </p:txBody>
      </p:sp>
      <p:sp>
        <p:nvSpPr>
          <p:cNvPr id="11" name="Text 9"/>
          <p:cNvSpPr/>
          <p:nvPr/>
        </p:nvSpPr>
        <p:spPr>
          <a:xfrm>
            <a:off x="2734056" y="2084832"/>
            <a:ext cx="1691640" cy="777240"/>
          </a:xfrm>
          <a:prstGeom prst="rect">
            <a:avLst/>
          </a:prstGeom>
          <a:noFill/>
          <a:ln/>
        </p:spPr>
        <p:txBody>
          <a:bodyPr wrap="square" lIns="0" tIns="0" rIns="0" bIns="0" rtlCol="0" anchor="ctr"/>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Deterministic Ichimoku / RSI / MACD via ta4j</a:t>
            </a:r>
            <a:endParaRPr lang="en-US" sz="1100" dirty="0"/>
          </a:p>
        </p:txBody>
      </p:sp>
      <p:sp>
        <p:nvSpPr>
          <p:cNvPr id="12" name="Shape 10"/>
          <p:cNvSpPr/>
          <p:nvPr/>
        </p:nvSpPr>
        <p:spPr>
          <a:xfrm>
            <a:off x="4672584" y="1508760"/>
            <a:ext cx="1947672" cy="1417320"/>
          </a:xfrm>
          <a:prstGeom prst="roundRect">
            <a:avLst>
              <a:gd name="adj" fmla="val 6452"/>
            </a:avLst>
          </a:prstGeom>
          <a:solidFill>
            <a:srgbClr val="F1F5F9"/>
          </a:solidFill>
          <a:ln w="12700">
            <a:solidFill>
              <a:srgbClr val="E2E8F0"/>
            </a:solidFill>
            <a:prstDash val="solid"/>
          </a:ln>
        </p:spPr>
      </p:sp>
      <p:sp>
        <p:nvSpPr>
          <p:cNvPr id="13" name="Shape 11"/>
          <p:cNvSpPr/>
          <p:nvPr/>
        </p:nvSpPr>
        <p:spPr>
          <a:xfrm>
            <a:off x="4672584" y="1508760"/>
            <a:ext cx="1947672" cy="82296"/>
          </a:xfrm>
          <a:prstGeom prst="rect">
            <a:avLst/>
          </a:prstGeom>
          <a:solidFill>
            <a:srgbClr val="0D9488"/>
          </a:solidFill>
          <a:ln/>
        </p:spPr>
      </p:sp>
      <p:sp>
        <p:nvSpPr>
          <p:cNvPr id="14" name="Text 12"/>
          <p:cNvSpPr/>
          <p:nvPr/>
        </p:nvSpPr>
        <p:spPr>
          <a:xfrm>
            <a:off x="4818888" y="1682496"/>
            <a:ext cx="169164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Fundamentals</a:t>
            </a:r>
            <a:endParaRPr lang="en-US" sz="1500" dirty="0"/>
          </a:p>
        </p:txBody>
      </p:sp>
      <p:sp>
        <p:nvSpPr>
          <p:cNvPr id="15" name="Text 13"/>
          <p:cNvSpPr/>
          <p:nvPr/>
        </p:nvSpPr>
        <p:spPr>
          <a:xfrm>
            <a:off x="4818888" y="2084832"/>
            <a:ext cx="1691640" cy="777240"/>
          </a:xfrm>
          <a:prstGeom prst="rect">
            <a:avLst/>
          </a:prstGeom>
          <a:noFill/>
          <a:ln/>
        </p:spPr>
        <p:txBody>
          <a:bodyPr wrap="square" lIns="0" tIns="0" rIns="0" bIns="0" rtlCol="0" anchor="ctr"/>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Market, community &amp; developer snapshot per coin</a:t>
            </a:r>
            <a:endParaRPr lang="en-US" sz="1100" dirty="0"/>
          </a:p>
        </p:txBody>
      </p:sp>
      <p:sp>
        <p:nvSpPr>
          <p:cNvPr id="16" name="Shape 14"/>
          <p:cNvSpPr/>
          <p:nvPr/>
        </p:nvSpPr>
        <p:spPr>
          <a:xfrm>
            <a:off x="6757416" y="1508760"/>
            <a:ext cx="1947672" cy="1417320"/>
          </a:xfrm>
          <a:prstGeom prst="roundRect">
            <a:avLst>
              <a:gd name="adj" fmla="val 6452"/>
            </a:avLst>
          </a:prstGeom>
          <a:solidFill>
            <a:srgbClr val="F1F5F9"/>
          </a:solidFill>
          <a:ln w="12700">
            <a:solidFill>
              <a:srgbClr val="E2E8F0"/>
            </a:solidFill>
            <a:prstDash val="solid"/>
          </a:ln>
        </p:spPr>
      </p:sp>
      <p:sp>
        <p:nvSpPr>
          <p:cNvPr id="17" name="Shape 15"/>
          <p:cNvSpPr/>
          <p:nvPr/>
        </p:nvSpPr>
        <p:spPr>
          <a:xfrm>
            <a:off x="6757416" y="1508760"/>
            <a:ext cx="1947672" cy="82296"/>
          </a:xfrm>
          <a:prstGeom prst="rect">
            <a:avLst/>
          </a:prstGeom>
          <a:solidFill>
            <a:srgbClr val="0D9488"/>
          </a:solidFill>
          <a:ln/>
        </p:spPr>
      </p:sp>
      <p:sp>
        <p:nvSpPr>
          <p:cNvPr id="18" name="Text 16"/>
          <p:cNvSpPr/>
          <p:nvPr/>
        </p:nvSpPr>
        <p:spPr>
          <a:xfrm>
            <a:off x="6903720" y="1682496"/>
            <a:ext cx="1691640" cy="36576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Cited RAG chat</a:t>
            </a:r>
            <a:endParaRPr lang="en-US" sz="1500" dirty="0"/>
          </a:p>
        </p:txBody>
      </p:sp>
      <p:sp>
        <p:nvSpPr>
          <p:cNvPr id="19" name="Text 17"/>
          <p:cNvSpPr/>
          <p:nvPr/>
        </p:nvSpPr>
        <p:spPr>
          <a:xfrm>
            <a:off x="6903720" y="2084832"/>
            <a:ext cx="1691640" cy="777240"/>
          </a:xfrm>
          <a:prstGeom prst="rect">
            <a:avLst/>
          </a:prstGeom>
          <a:noFill/>
          <a:ln/>
        </p:spPr>
        <p:txBody>
          <a:bodyPr wrap="square" lIns="0" tIns="0" rIns="0" bIns="0" rtlCol="0" anchor="ctr"/>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Grounded answers over news + on-chain + knowledge base</a:t>
            </a:r>
            <a:endParaRPr lang="en-US" sz="1100" dirty="0"/>
          </a:p>
        </p:txBody>
      </p:sp>
      <p:sp>
        <p:nvSpPr>
          <p:cNvPr id="20" name="Shape 18"/>
          <p:cNvSpPr/>
          <p:nvPr/>
        </p:nvSpPr>
        <p:spPr>
          <a:xfrm>
            <a:off x="4572000" y="3154680"/>
            <a:ext cx="0" cy="320040"/>
          </a:xfrm>
          <a:prstGeom prst="line">
            <a:avLst/>
          </a:prstGeom>
          <a:noFill/>
          <a:ln w="19050">
            <a:solidFill>
              <a:srgbClr val="94A3B8"/>
            </a:solidFill>
            <a:prstDash val="solid"/>
            <a:tailEnd type="triangle"/>
          </a:ln>
        </p:spPr>
      </p:sp>
      <p:sp>
        <p:nvSpPr>
          <p:cNvPr id="21" name="Shape 19"/>
          <p:cNvSpPr/>
          <p:nvPr/>
        </p:nvSpPr>
        <p:spPr>
          <a:xfrm>
            <a:off x="502920" y="3611880"/>
            <a:ext cx="5074920" cy="960120"/>
          </a:xfrm>
          <a:prstGeom prst="roundRect">
            <a:avLst>
              <a:gd name="adj" fmla="val 11429"/>
            </a:avLst>
          </a:prstGeom>
          <a:solidFill>
            <a:srgbClr val="0F172A"/>
          </a:solidFill>
          <a:ln/>
          <a:effectLst>
            <a:outerShdw sx="100000" sy="100000" kx="0" ky="0" algn="bl" rotWithShape="0" blurRad="88900" dist="38100" dir="8100000">
              <a:srgbClr val="0F172A">
                <a:alpha val="16000"/>
              </a:srgbClr>
            </a:outerShdw>
          </a:effectLst>
        </p:spPr>
      </p:sp>
      <p:sp>
        <p:nvSpPr>
          <p:cNvPr id="22" name="Text 20"/>
          <p:cNvSpPr/>
          <p:nvPr/>
        </p:nvSpPr>
        <p:spPr>
          <a:xfrm>
            <a:off x="777240" y="3767328"/>
            <a:ext cx="1828800" cy="27432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ANALYST</a:t>
            </a:r>
            <a:endParaRPr lang="en-US" sz="1100" dirty="0"/>
          </a:p>
        </p:txBody>
      </p:sp>
      <p:sp>
        <p:nvSpPr>
          <p:cNvPr id="23" name="Text 21"/>
          <p:cNvSpPr/>
          <p:nvPr/>
        </p:nvSpPr>
        <p:spPr>
          <a:xfrm>
            <a:off x="777240" y="4041648"/>
            <a:ext cx="4572000" cy="502920"/>
          </a:xfrm>
          <a:prstGeom prst="rect">
            <a:avLst/>
          </a:prstGeom>
          <a:noFill/>
          <a:ln/>
        </p:spPr>
        <p:txBody>
          <a:bodyPr wrap="square" lIns="0" tIns="0" rIns="0" bIns="0" rtlCol="0" anchor="ctr"/>
          <a:lstStyle/>
          <a:p>
            <a:pPr indent="0" marL="0">
              <a:lnSpc>
                <a:spcPct val="105000"/>
              </a:lnSpc>
              <a:buNone/>
            </a:pPr>
            <a:r>
              <a:rPr lang="en-US" sz="1300" dirty="0">
                <a:solidFill>
                  <a:srgbClr val="FFFFFF"/>
                </a:solidFill>
                <a:latin typeface="Calibri" pitchFamily="34" charset="0"/>
                <a:ea typeface="Calibri" pitchFamily="34" charset="-122"/>
                <a:cs typeface="Calibri" pitchFamily="34" charset="-120"/>
              </a:rPr>
              <a:t>One synthesised, fact-checked opinion per coin — every claim traceable to its source.</a:t>
            </a:r>
            <a:endParaRPr lang="en-US" sz="1300" dirty="0"/>
          </a:p>
        </p:txBody>
      </p:sp>
      <p:sp>
        <p:nvSpPr>
          <p:cNvPr id="24" name="Shape 22"/>
          <p:cNvSpPr/>
          <p:nvPr/>
        </p:nvSpPr>
        <p:spPr>
          <a:xfrm>
            <a:off x="5577840" y="4087368"/>
            <a:ext cx="411480" cy="0"/>
          </a:xfrm>
          <a:prstGeom prst="line">
            <a:avLst/>
          </a:prstGeom>
          <a:noFill/>
          <a:ln w="19050">
            <a:solidFill>
              <a:srgbClr val="94A3B8"/>
            </a:solidFill>
            <a:prstDash val="solid"/>
            <a:tailEnd type="triangle"/>
          </a:ln>
        </p:spPr>
      </p:sp>
      <p:sp>
        <p:nvSpPr>
          <p:cNvPr id="25" name="Shape 23"/>
          <p:cNvSpPr/>
          <p:nvPr/>
        </p:nvSpPr>
        <p:spPr>
          <a:xfrm>
            <a:off x="6080760" y="3611880"/>
            <a:ext cx="2560320" cy="960120"/>
          </a:xfrm>
          <a:prstGeom prst="roundRect">
            <a:avLst>
              <a:gd name="adj" fmla="val 11429"/>
            </a:avLst>
          </a:prstGeom>
          <a:solidFill>
            <a:srgbClr val="F1F5F9"/>
          </a:solidFill>
          <a:ln w="19050">
            <a:solidFill>
              <a:srgbClr val="0D9488"/>
            </a:solidFill>
            <a:prstDash val="solid"/>
          </a:ln>
        </p:spPr>
      </p:sp>
      <p:sp>
        <p:nvSpPr>
          <p:cNvPr id="26" name="Text 24"/>
          <p:cNvSpPr/>
          <p:nvPr/>
        </p:nvSpPr>
        <p:spPr>
          <a:xfrm>
            <a:off x="6263640" y="3767328"/>
            <a:ext cx="2194560" cy="320040"/>
          </a:xfrm>
          <a:prstGeom prst="rect">
            <a:avLst/>
          </a:prstGeom>
          <a:noFill/>
          <a:ln/>
        </p:spPr>
        <p:txBody>
          <a:bodyPr wrap="square" lIns="0" tIns="0" rIns="0" bIns="0" rtlCol="0" anchor="ctr"/>
          <a:lstStyle/>
          <a:p>
            <a:pPr indent="0" marL="0">
              <a:buNone/>
            </a:pPr>
            <a:r>
              <a:rPr lang="en-US" sz="1500" b="1" dirty="0">
                <a:solidFill>
                  <a:srgbClr val="0F172A"/>
                </a:solidFill>
                <a:latin typeface="Georgia" pitchFamily="34" charset="0"/>
                <a:ea typeface="Georgia" pitchFamily="34" charset="-122"/>
                <a:cs typeface="Georgia" pitchFamily="34" charset="-120"/>
              </a:rPr>
              <a:t>Paper trade</a:t>
            </a:r>
            <a:endParaRPr lang="en-US" sz="1500" dirty="0"/>
          </a:p>
        </p:txBody>
      </p:sp>
      <p:sp>
        <p:nvSpPr>
          <p:cNvPr id="27" name="Text 25"/>
          <p:cNvSpPr/>
          <p:nvPr/>
        </p:nvSpPr>
        <p:spPr>
          <a:xfrm>
            <a:off x="6263640" y="4078224"/>
            <a:ext cx="2240280" cy="457200"/>
          </a:xfrm>
          <a:prstGeom prst="rect">
            <a:avLst/>
          </a:prstGeom>
          <a:noFill/>
          <a:ln/>
        </p:spPr>
        <p:txBody>
          <a:bodyPr wrap="square" lIns="0" tIns="0" rIns="0" bIns="0" rtlCol="0" anchor="ctr"/>
          <a:lstStyle/>
          <a:p>
            <a:pPr indent="0" marL="0">
              <a:lnSpc>
                <a:spcPct val="100000"/>
              </a:lnSpc>
              <a:buNone/>
            </a:pPr>
            <a:r>
              <a:rPr lang="en-US" sz="1050" dirty="0">
                <a:solidFill>
                  <a:srgbClr val="334155"/>
                </a:solidFill>
                <a:latin typeface="Calibri" pitchFamily="34" charset="0"/>
                <a:ea typeface="Calibri" pitchFamily="34" charset="-122"/>
                <a:cs typeface="Calibri" pitchFamily="34" charset="-120"/>
              </a:rPr>
              <a:t>Act on it with simulated money — every order &amp; P&amp;L logged.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Four containers, one shared database</a:t>
            </a:r>
            <a:endParaRPr lang="en-US" sz="3000" dirty="0"/>
          </a:p>
        </p:txBody>
      </p:sp>
      <p:sp>
        <p:nvSpPr>
          <p:cNvPr id="4" name="Shape 2"/>
          <p:cNvSpPr/>
          <p:nvPr/>
        </p:nvSpPr>
        <p:spPr>
          <a:xfrm>
            <a:off x="2651760" y="1417320"/>
            <a:ext cx="2743200" cy="640080"/>
          </a:xfrm>
          <a:prstGeom prst="roundRect">
            <a:avLst>
              <a:gd name="adj" fmla="val 11429"/>
            </a:avLst>
          </a:prstGeom>
          <a:solidFill>
            <a:srgbClr val="F1F5F9"/>
          </a:solidFill>
          <a:ln w="12700">
            <a:solidFill>
              <a:srgbClr val="E2E8F0"/>
            </a:solidFill>
            <a:prstDash val="solid"/>
          </a:ln>
        </p:spPr>
      </p:sp>
      <p:sp>
        <p:nvSpPr>
          <p:cNvPr id="5" name="Text 3"/>
          <p:cNvSpPr/>
          <p:nvPr/>
        </p:nvSpPr>
        <p:spPr>
          <a:xfrm>
            <a:off x="2788920" y="1508760"/>
            <a:ext cx="2468880" cy="292608"/>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frontend</a:t>
            </a:r>
            <a:endParaRPr lang="en-US" sz="1350" dirty="0"/>
          </a:p>
        </p:txBody>
      </p:sp>
      <p:sp>
        <p:nvSpPr>
          <p:cNvPr id="6" name="Text 4"/>
          <p:cNvSpPr/>
          <p:nvPr/>
        </p:nvSpPr>
        <p:spPr>
          <a:xfrm>
            <a:off x="2788920" y="1801368"/>
            <a:ext cx="2468880" cy="182880"/>
          </a:xfrm>
          <a:prstGeom prst="rect">
            <a:avLst/>
          </a:prstGeom>
          <a:noFill/>
          <a:ln/>
        </p:spPr>
        <p:txBody>
          <a:bodyPr wrap="square" lIns="0" tIns="0" rIns="0" bIns="0" rtlCol="0" anchor="ctr"/>
          <a:lstStyle/>
          <a:p>
            <a:pPr indent="0" marL="0">
              <a:lnSpc>
                <a:spcPct val="100000"/>
              </a:lnSpc>
              <a:buNone/>
            </a:pPr>
            <a:r>
              <a:rPr lang="en-US" sz="950" dirty="0">
                <a:solidFill>
                  <a:srgbClr val="64748B"/>
                </a:solidFill>
                <a:latin typeface="Consolas" pitchFamily="34" charset="0"/>
                <a:ea typeface="Consolas" pitchFamily="34" charset="-122"/>
                <a:cs typeface="Consolas" pitchFamily="34" charset="-120"/>
              </a:rPr>
              <a:t>React + nginx</a:t>
            </a:r>
            <a:endParaRPr lang="en-US" sz="950" dirty="0"/>
          </a:p>
        </p:txBody>
      </p:sp>
      <p:sp>
        <p:nvSpPr>
          <p:cNvPr id="7" name="Shape 5"/>
          <p:cNvSpPr/>
          <p:nvPr/>
        </p:nvSpPr>
        <p:spPr>
          <a:xfrm>
            <a:off x="2651760" y="2468880"/>
            <a:ext cx="2743200" cy="914400"/>
          </a:xfrm>
          <a:prstGeom prst="roundRect">
            <a:avLst>
              <a:gd name="adj" fmla="val 8000"/>
            </a:avLst>
          </a:prstGeom>
          <a:solidFill>
            <a:srgbClr val="0F172A"/>
          </a:solidFill>
          <a:ln w="12700">
            <a:solidFill>
              <a:srgbClr val="0F172A"/>
            </a:solidFill>
            <a:prstDash val="solid"/>
          </a:ln>
          <a:effectLst>
            <a:outerShdw sx="100000" sy="100000" kx="0" ky="0" algn="bl" rotWithShape="0" blurRad="88900" dist="38100" dir="8100000">
              <a:srgbClr val="0F172A">
                <a:alpha val="16000"/>
              </a:srgbClr>
            </a:outerShdw>
          </a:effectLst>
        </p:spPr>
      </p:sp>
      <p:sp>
        <p:nvSpPr>
          <p:cNvPr id="8" name="Text 6"/>
          <p:cNvSpPr/>
          <p:nvPr/>
        </p:nvSpPr>
        <p:spPr>
          <a:xfrm>
            <a:off x="2788920" y="2560320"/>
            <a:ext cx="2468880" cy="292608"/>
          </a:xfrm>
          <a:prstGeom prst="rect">
            <a:avLst/>
          </a:prstGeom>
          <a:noFill/>
          <a:ln/>
        </p:spPr>
        <p:txBody>
          <a:bodyPr wrap="square" lIns="0" tIns="0" rIns="0" bIns="0" rtlCol="0" anchor="ctr"/>
          <a:lstStyle/>
          <a:p>
            <a:pPr indent="0" marL="0">
              <a:buNone/>
            </a:pPr>
            <a:r>
              <a:rPr lang="en-US" sz="1350" b="1" dirty="0">
                <a:solidFill>
                  <a:srgbClr val="FFFFFF"/>
                </a:solidFill>
                <a:latin typeface="Georgia" pitchFamily="34" charset="0"/>
                <a:ea typeface="Georgia" pitchFamily="34" charset="-122"/>
                <a:cs typeface="Georgia" pitchFamily="34" charset="-120"/>
              </a:rPr>
              <a:t>backend  ·  modular monolith</a:t>
            </a:r>
            <a:endParaRPr lang="en-US" sz="1350" dirty="0"/>
          </a:p>
        </p:txBody>
      </p:sp>
      <p:sp>
        <p:nvSpPr>
          <p:cNvPr id="9" name="Text 7"/>
          <p:cNvSpPr/>
          <p:nvPr/>
        </p:nvSpPr>
        <p:spPr>
          <a:xfrm>
            <a:off x="2788920" y="2852928"/>
            <a:ext cx="2468880" cy="457200"/>
          </a:xfrm>
          <a:prstGeom prst="rect">
            <a:avLst/>
          </a:prstGeom>
          <a:noFill/>
          <a:ln/>
        </p:spPr>
        <p:txBody>
          <a:bodyPr wrap="square" lIns="0" tIns="0" rIns="0" bIns="0" rtlCol="0" anchor="ctr"/>
          <a:lstStyle/>
          <a:p>
            <a:pPr indent="0" marL="0">
              <a:lnSpc>
                <a:spcPct val="100000"/>
              </a:lnSpc>
              <a:buNone/>
            </a:pPr>
            <a:r>
              <a:rPr lang="en-US" sz="950" dirty="0">
                <a:solidFill>
                  <a:srgbClr val="94A3B8"/>
                </a:solidFill>
                <a:latin typeface="Consolas" pitchFamily="34" charset="0"/>
                <a:ea typeface="Consolas" pitchFamily="34" charset="-122"/>
                <a:cs typeface="Consolas" pitchFamily="34" charset="-120"/>
              </a:rPr>
              <a:t>Spring Boot · ta4j · Spring AI · trading · analyst</a:t>
            </a:r>
            <a:endParaRPr lang="en-US" sz="950" dirty="0"/>
          </a:p>
        </p:txBody>
      </p:sp>
      <p:sp>
        <p:nvSpPr>
          <p:cNvPr id="10" name="Shape 8"/>
          <p:cNvSpPr/>
          <p:nvPr/>
        </p:nvSpPr>
        <p:spPr>
          <a:xfrm>
            <a:off x="2651760" y="3840480"/>
            <a:ext cx="2743200" cy="685800"/>
          </a:xfrm>
          <a:prstGeom prst="roundRect">
            <a:avLst>
              <a:gd name="adj" fmla="val 10667"/>
            </a:avLst>
          </a:prstGeom>
          <a:solidFill>
            <a:srgbClr val="ECFEFF"/>
          </a:solidFill>
          <a:ln w="19050">
            <a:solidFill>
              <a:srgbClr val="0D9488"/>
            </a:solidFill>
            <a:prstDash val="solid"/>
          </a:ln>
        </p:spPr>
      </p:sp>
      <p:sp>
        <p:nvSpPr>
          <p:cNvPr id="11" name="Text 9"/>
          <p:cNvSpPr/>
          <p:nvPr/>
        </p:nvSpPr>
        <p:spPr>
          <a:xfrm>
            <a:off x="2788920" y="3931920"/>
            <a:ext cx="2468880" cy="292608"/>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db</a:t>
            </a:r>
            <a:endParaRPr lang="en-US" sz="1350" dirty="0"/>
          </a:p>
        </p:txBody>
      </p:sp>
      <p:sp>
        <p:nvSpPr>
          <p:cNvPr id="12" name="Text 10"/>
          <p:cNvSpPr/>
          <p:nvPr/>
        </p:nvSpPr>
        <p:spPr>
          <a:xfrm>
            <a:off x="2788920" y="4224528"/>
            <a:ext cx="2468880" cy="228600"/>
          </a:xfrm>
          <a:prstGeom prst="rect">
            <a:avLst/>
          </a:prstGeom>
          <a:noFill/>
          <a:ln/>
        </p:spPr>
        <p:txBody>
          <a:bodyPr wrap="square" lIns="0" tIns="0" rIns="0" bIns="0" rtlCol="0" anchor="ctr"/>
          <a:lstStyle/>
          <a:p>
            <a:pPr indent="0" marL="0">
              <a:lnSpc>
                <a:spcPct val="100000"/>
              </a:lnSpc>
              <a:buNone/>
            </a:pPr>
            <a:r>
              <a:rPr lang="en-US" sz="950" dirty="0">
                <a:solidFill>
                  <a:srgbClr val="64748B"/>
                </a:solidFill>
                <a:latin typeface="Consolas" pitchFamily="34" charset="0"/>
                <a:ea typeface="Consolas" pitchFamily="34" charset="-122"/>
                <a:cs typeface="Consolas" pitchFamily="34" charset="-120"/>
              </a:rPr>
              <a:t>Postgres 16 + pgvector</a:t>
            </a:r>
            <a:endParaRPr lang="en-US" sz="950" dirty="0"/>
          </a:p>
        </p:txBody>
      </p:sp>
      <p:sp>
        <p:nvSpPr>
          <p:cNvPr id="13" name="Shape 11"/>
          <p:cNvSpPr/>
          <p:nvPr/>
        </p:nvSpPr>
        <p:spPr>
          <a:xfrm>
            <a:off x="457200" y="3566160"/>
            <a:ext cx="1874520" cy="960120"/>
          </a:xfrm>
          <a:prstGeom prst="roundRect">
            <a:avLst>
              <a:gd name="adj" fmla="val 7619"/>
            </a:avLst>
          </a:prstGeom>
          <a:solidFill>
            <a:srgbClr val="F1F5F9"/>
          </a:solidFill>
          <a:ln w="12700">
            <a:solidFill>
              <a:srgbClr val="E2E8F0"/>
            </a:solidFill>
            <a:prstDash val="solid"/>
          </a:ln>
        </p:spPr>
      </p:sp>
      <p:sp>
        <p:nvSpPr>
          <p:cNvPr id="14" name="Text 12"/>
          <p:cNvSpPr/>
          <p:nvPr/>
        </p:nvSpPr>
        <p:spPr>
          <a:xfrm>
            <a:off x="594360" y="3657600"/>
            <a:ext cx="1600200" cy="292608"/>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ml  ·  Python</a:t>
            </a:r>
            <a:endParaRPr lang="en-US" sz="1350" dirty="0"/>
          </a:p>
        </p:txBody>
      </p:sp>
      <p:sp>
        <p:nvSpPr>
          <p:cNvPr id="15" name="Text 13"/>
          <p:cNvSpPr/>
          <p:nvPr/>
        </p:nvSpPr>
        <p:spPr>
          <a:xfrm>
            <a:off x="594360" y="3950208"/>
            <a:ext cx="1600200" cy="502920"/>
          </a:xfrm>
          <a:prstGeom prst="rect">
            <a:avLst/>
          </a:prstGeom>
          <a:noFill/>
          <a:ln/>
        </p:spPr>
        <p:txBody>
          <a:bodyPr wrap="square" lIns="0" tIns="0" rIns="0" bIns="0" rtlCol="0" anchor="ctr"/>
          <a:lstStyle/>
          <a:p>
            <a:pPr indent="0" marL="0">
              <a:lnSpc>
                <a:spcPct val="100000"/>
              </a:lnSpc>
              <a:buNone/>
            </a:pPr>
            <a:r>
              <a:rPr lang="en-US" sz="950" dirty="0">
                <a:solidFill>
                  <a:srgbClr val="64748B"/>
                </a:solidFill>
                <a:latin typeface="Consolas" pitchFamily="34" charset="0"/>
                <a:ea typeface="Consolas" pitchFamily="34" charset="-122"/>
                <a:cs typeface="Consolas" pitchFamily="34" charset="-120"/>
              </a:rPr>
              <a:t>batch worker · ingestion · XGBoost · SHAP</a:t>
            </a:r>
            <a:endParaRPr lang="en-US" sz="950" dirty="0"/>
          </a:p>
        </p:txBody>
      </p:sp>
      <p:sp>
        <p:nvSpPr>
          <p:cNvPr id="16" name="Shape 14"/>
          <p:cNvSpPr/>
          <p:nvPr/>
        </p:nvSpPr>
        <p:spPr>
          <a:xfrm>
            <a:off x="4023360" y="2075688"/>
            <a:ext cx="0" cy="365760"/>
          </a:xfrm>
          <a:prstGeom prst="line">
            <a:avLst/>
          </a:prstGeom>
          <a:noFill/>
          <a:ln w="19050">
            <a:solidFill>
              <a:srgbClr val="94A3B8"/>
            </a:solidFill>
            <a:prstDash val="solid"/>
            <a:headEnd type="triangle"/>
            <a:tailEnd type="triangle"/>
          </a:ln>
        </p:spPr>
      </p:sp>
      <p:sp>
        <p:nvSpPr>
          <p:cNvPr id="17" name="Text 15"/>
          <p:cNvSpPr/>
          <p:nvPr/>
        </p:nvSpPr>
        <p:spPr>
          <a:xfrm>
            <a:off x="4114800" y="2103120"/>
            <a:ext cx="128016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REST / JSON</a:t>
            </a:r>
            <a:endParaRPr lang="en-US" sz="900" dirty="0"/>
          </a:p>
        </p:txBody>
      </p:sp>
      <p:sp>
        <p:nvSpPr>
          <p:cNvPr id="18" name="Shape 16"/>
          <p:cNvSpPr/>
          <p:nvPr/>
        </p:nvSpPr>
        <p:spPr>
          <a:xfrm>
            <a:off x="4023360" y="3401568"/>
            <a:ext cx="0" cy="420624"/>
          </a:xfrm>
          <a:prstGeom prst="line">
            <a:avLst/>
          </a:prstGeom>
          <a:noFill/>
          <a:ln w="19050">
            <a:solidFill>
              <a:srgbClr val="94A3B8"/>
            </a:solidFill>
            <a:prstDash val="solid"/>
            <a:tailEnd type="triangle"/>
          </a:ln>
        </p:spPr>
      </p:sp>
      <p:sp>
        <p:nvSpPr>
          <p:cNvPr id="19" name="Text 17"/>
          <p:cNvSpPr/>
          <p:nvPr/>
        </p:nvSpPr>
        <p:spPr>
          <a:xfrm>
            <a:off x="4114800" y="3456432"/>
            <a:ext cx="137160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JDBC (read-only)</a:t>
            </a:r>
            <a:endParaRPr lang="en-US" sz="900" dirty="0"/>
          </a:p>
        </p:txBody>
      </p:sp>
      <p:sp>
        <p:nvSpPr>
          <p:cNvPr id="20" name="Shape 18"/>
          <p:cNvSpPr/>
          <p:nvPr/>
        </p:nvSpPr>
        <p:spPr>
          <a:xfrm>
            <a:off x="2331720" y="4160520"/>
            <a:ext cx="310896" cy="0"/>
          </a:xfrm>
          <a:prstGeom prst="line">
            <a:avLst/>
          </a:prstGeom>
          <a:noFill/>
          <a:ln w="25400">
            <a:solidFill>
              <a:srgbClr val="0D9488"/>
            </a:solidFill>
            <a:prstDash val="solid"/>
            <a:tailEnd type="triangle"/>
          </a:ln>
        </p:spPr>
      </p:sp>
      <p:sp>
        <p:nvSpPr>
          <p:cNvPr id="21" name="Text 19"/>
          <p:cNvSpPr/>
          <p:nvPr/>
        </p:nvSpPr>
        <p:spPr>
          <a:xfrm>
            <a:off x="2148840" y="3840480"/>
            <a:ext cx="822960" cy="274320"/>
          </a:xfrm>
          <a:prstGeom prst="rect">
            <a:avLst/>
          </a:prstGeom>
          <a:noFill/>
          <a:ln/>
        </p:spPr>
        <p:txBody>
          <a:bodyPr wrap="square" lIns="0" tIns="0" rIns="0" bIns="0" rtlCol="0" anchor="ctr"/>
          <a:lstStyle/>
          <a:p>
            <a:pPr indent="0" marL="0">
              <a:buNone/>
            </a:pPr>
            <a:r>
              <a:rPr lang="en-US" sz="900" i="1" dirty="0">
                <a:solidFill>
                  <a:srgbClr val="0D9488"/>
                </a:solidFill>
                <a:latin typeface="Calibri" pitchFamily="34" charset="0"/>
                <a:ea typeface="Calibri" pitchFamily="34" charset="-122"/>
                <a:cs typeface="Calibri" pitchFamily="34" charset="-120"/>
              </a:rPr>
              <a:t>writes</a:t>
            </a:r>
            <a:endParaRPr lang="en-US" sz="900" dirty="0"/>
          </a:p>
        </p:txBody>
      </p:sp>
      <p:sp>
        <p:nvSpPr>
          <p:cNvPr id="22" name="Shape 20"/>
          <p:cNvSpPr/>
          <p:nvPr/>
        </p:nvSpPr>
        <p:spPr>
          <a:xfrm>
            <a:off x="5760720" y="1417320"/>
            <a:ext cx="2880360" cy="1417320"/>
          </a:xfrm>
          <a:prstGeom prst="roundRect">
            <a:avLst>
              <a:gd name="adj" fmla="val 6452"/>
            </a:avLst>
          </a:prstGeom>
          <a:solidFill>
            <a:srgbClr val="F1F5F9"/>
          </a:solidFill>
          <a:ln w="12700">
            <a:solidFill>
              <a:srgbClr val="E2E8F0"/>
            </a:solidFill>
            <a:prstDash val="solid"/>
          </a:ln>
        </p:spPr>
      </p:sp>
      <p:sp>
        <p:nvSpPr>
          <p:cNvPr id="23" name="Text 21"/>
          <p:cNvSpPr/>
          <p:nvPr/>
        </p:nvSpPr>
        <p:spPr>
          <a:xfrm>
            <a:off x="5943600" y="1572768"/>
            <a:ext cx="2560320" cy="502920"/>
          </a:xfrm>
          <a:prstGeom prst="rect">
            <a:avLst/>
          </a:prstGeom>
          <a:noFill/>
          <a:ln/>
        </p:spPr>
        <p:txBody>
          <a:bodyPr wrap="square" lIns="0" tIns="0" rIns="0" bIns="0" rtlCol="0" anchor="ctr"/>
          <a:lstStyle/>
          <a:p>
            <a:pPr indent="0" marL="0">
              <a:buNone/>
            </a:pPr>
            <a:r>
              <a:rPr lang="en-US" sz="1350" b="1" dirty="0">
                <a:solidFill>
                  <a:srgbClr val="0D9488"/>
                </a:solidFill>
                <a:latin typeface="Georgia" pitchFamily="34" charset="0"/>
                <a:ea typeface="Georgia" pitchFamily="34" charset="-122"/>
                <a:cs typeface="Georgia" pitchFamily="34" charset="-120"/>
              </a:rPr>
              <a:t>The database is the polyglot boundary</a:t>
            </a:r>
            <a:endParaRPr lang="en-US" sz="1350" dirty="0"/>
          </a:p>
        </p:txBody>
      </p:sp>
      <p:sp>
        <p:nvSpPr>
          <p:cNvPr id="24" name="Text 22"/>
          <p:cNvSpPr/>
          <p:nvPr/>
        </p:nvSpPr>
        <p:spPr>
          <a:xfrm>
            <a:off x="5943600" y="2084832"/>
            <a:ext cx="2560320" cy="731520"/>
          </a:xfrm>
          <a:prstGeom prst="rect">
            <a:avLst/>
          </a:prstGeom>
          <a:noFill/>
          <a:ln/>
        </p:spPr>
        <p:txBody>
          <a:bodyPr wrap="square" lIns="0" tIns="0" rIns="0" bIns="0" rtlCol="0" anchor="ctr"/>
          <a:lstStyle/>
          <a:p>
            <a:pPr indent="0" marL="0">
              <a:lnSpc>
                <a:spcPct val="105000"/>
              </a:lnSpc>
              <a:buNone/>
            </a:pPr>
            <a:r>
              <a:rPr lang="en-US" sz="1100" dirty="0">
                <a:solidFill>
                  <a:srgbClr val="334155"/>
                </a:solidFill>
                <a:latin typeface="Calibri" pitchFamily="34" charset="0"/>
                <a:ea typeface="Calibri" pitchFamily="34" charset="-122"/>
                <a:cs typeface="Calibri" pitchFamily="34" charset="-120"/>
              </a:rPr>
              <a:t>Python writes its tables, Java reads them read-only. No RPC, no shared model files — each table has exactly one writer.</a:t>
            </a:r>
            <a:endParaRPr lang="en-US" sz="1100" dirty="0"/>
          </a:p>
        </p:txBody>
      </p:sp>
      <p:sp>
        <p:nvSpPr>
          <p:cNvPr id="25" name="Shape 23"/>
          <p:cNvSpPr/>
          <p:nvPr/>
        </p:nvSpPr>
        <p:spPr>
          <a:xfrm>
            <a:off x="5760720" y="3017520"/>
            <a:ext cx="2880360" cy="1508760"/>
          </a:xfrm>
          <a:prstGeom prst="roundRect">
            <a:avLst>
              <a:gd name="adj" fmla="val 6061"/>
            </a:avLst>
          </a:prstGeom>
          <a:solidFill>
            <a:srgbClr val="0F172A"/>
          </a:solidFill>
          <a:ln/>
        </p:spPr>
      </p:sp>
      <p:sp>
        <p:nvSpPr>
          <p:cNvPr id="26" name="Text 24"/>
          <p:cNvSpPr/>
          <p:nvPr/>
        </p:nvSpPr>
        <p:spPr>
          <a:xfrm>
            <a:off x="5943600" y="3182112"/>
            <a:ext cx="2560320" cy="365760"/>
          </a:xfrm>
          <a:prstGeom prst="rect">
            <a:avLst/>
          </a:prstGeom>
          <a:noFill/>
          <a:ln/>
        </p:spPr>
        <p:txBody>
          <a:bodyPr wrap="square" lIns="0" tIns="0" rIns="0" bIns="0" rtlCol="0" anchor="ctr"/>
          <a:lstStyle/>
          <a:p>
            <a:pPr indent="0" marL="0">
              <a:buNone/>
            </a:pPr>
            <a:r>
              <a:rPr lang="en-US" sz="1350" b="1" dirty="0">
                <a:solidFill>
                  <a:srgbClr val="2DD4BF"/>
                </a:solidFill>
                <a:latin typeface="Georgia" pitchFamily="34" charset="0"/>
                <a:ea typeface="Georgia" pitchFamily="34" charset="-122"/>
                <a:cs typeface="Georgia" pitchFamily="34" charset="-120"/>
              </a:rPr>
              <a:t>Containers ≠ microservices</a:t>
            </a:r>
            <a:endParaRPr lang="en-US" sz="1350" dirty="0"/>
          </a:p>
        </p:txBody>
      </p:sp>
      <p:sp>
        <p:nvSpPr>
          <p:cNvPr id="27" name="Text 25"/>
          <p:cNvSpPr/>
          <p:nvPr/>
        </p:nvSpPr>
        <p:spPr>
          <a:xfrm>
            <a:off x="5943600" y="3566160"/>
            <a:ext cx="2560320" cy="914400"/>
          </a:xfrm>
          <a:prstGeom prst="rect">
            <a:avLst/>
          </a:prstGeom>
          <a:noFill/>
          <a:ln/>
        </p:spPr>
        <p:txBody>
          <a:bodyPr wrap="square" lIns="0" tIns="0" rIns="0" bIns="0" rtlCol="0" anchor="ctr"/>
          <a:lstStyle/>
          <a:p>
            <a:pPr indent="0" marL="0">
              <a:lnSpc>
                <a:spcPct val="105000"/>
              </a:lnSpc>
              <a:buNone/>
            </a:pPr>
            <a:r>
              <a:rPr lang="en-US" sz="1100" dirty="0">
                <a:solidFill>
                  <a:srgbClr val="94A3B8"/>
                </a:solidFill>
                <a:latin typeface="Calibri" pitchFamily="34" charset="0"/>
                <a:ea typeface="Calibri" pitchFamily="34" charset="-122"/>
                <a:cs typeface="Calibri" pitchFamily="34" charset="-120"/>
              </a:rPr>
              <a:t>Four containers (different runtimes) — but the backend stays ONE modular monolith. Splitting it would add operational pain this single-user system doesn't need.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THE MACHINE LEARNING — PRESENTED HONESTLY</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Calibrated, explainable, and aware of its limits</a:t>
            </a:r>
            <a:endParaRPr lang="en-US" sz="3000" dirty="0"/>
          </a:p>
        </p:txBody>
      </p:sp>
      <p:sp>
        <p:nvSpPr>
          <p:cNvPr id="4" name="Shape 2"/>
          <p:cNvSpPr/>
          <p:nvPr/>
        </p:nvSpPr>
        <p:spPr>
          <a:xfrm>
            <a:off x="502920" y="1463040"/>
            <a:ext cx="2606040" cy="1097280"/>
          </a:xfrm>
          <a:prstGeom prst="roundRect">
            <a:avLst>
              <a:gd name="adj" fmla="val 8333"/>
            </a:avLst>
          </a:prstGeom>
          <a:solidFill>
            <a:srgbClr val="F1F5F9"/>
          </a:solidFill>
          <a:ln w="12700">
            <a:solidFill>
              <a:srgbClr val="E2E8F0"/>
            </a:solidFill>
            <a:prstDash val="solid"/>
          </a:ln>
        </p:spPr>
      </p:sp>
      <p:sp>
        <p:nvSpPr>
          <p:cNvPr id="5" name="Text 3"/>
          <p:cNvSpPr/>
          <p:nvPr/>
        </p:nvSpPr>
        <p:spPr>
          <a:xfrm>
            <a:off x="640080" y="1517904"/>
            <a:ext cx="2331720" cy="548640"/>
          </a:xfrm>
          <a:prstGeom prst="rect">
            <a:avLst/>
          </a:prstGeom>
          <a:noFill/>
          <a:ln/>
        </p:spPr>
        <p:txBody>
          <a:bodyPr wrap="square" lIns="0" tIns="0" rIns="0" bIns="0" rtlCol="0" anchor="ctr"/>
          <a:lstStyle/>
          <a:p>
            <a:pPr indent="0" marL="0">
              <a:buNone/>
            </a:pPr>
            <a:r>
              <a:rPr lang="en-US" sz="3800" b="1" dirty="0">
                <a:solidFill>
                  <a:srgbClr val="0D9488"/>
                </a:solidFill>
                <a:latin typeface="Georgia" pitchFamily="34" charset="0"/>
                <a:ea typeface="Georgia" pitchFamily="34" charset="-122"/>
                <a:cs typeface="Georgia" pitchFamily="34" charset="-120"/>
              </a:rPr>
              <a:t>0.578</a:t>
            </a:r>
            <a:endParaRPr lang="en-US" sz="3800" dirty="0"/>
          </a:p>
        </p:txBody>
      </p:sp>
      <p:sp>
        <p:nvSpPr>
          <p:cNvPr id="6" name="Text 4"/>
          <p:cNvSpPr/>
          <p:nvPr/>
        </p:nvSpPr>
        <p:spPr>
          <a:xfrm>
            <a:off x="649224" y="2084832"/>
            <a:ext cx="233172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macro ROC-AUC</a:t>
            </a:r>
            <a:endParaRPr lang="en-US" sz="1250" dirty="0"/>
          </a:p>
        </p:txBody>
      </p:sp>
      <p:sp>
        <p:nvSpPr>
          <p:cNvPr id="7" name="Text 5"/>
          <p:cNvSpPr/>
          <p:nvPr/>
        </p:nvSpPr>
        <p:spPr>
          <a:xfrm>
            <a:off x="649224" y="2322576"/>
            <a:ext cx="2377440"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in my expected 0.55–0.62 band</a:t>
            </a:r>
            <a:endParaRPr lang="en-US" sz="950" dirty="0"/>
          </a:p>
        </p:txBody>
      </p:sp>
      <p:sp>
        <p:nvSpPr>
          <p:cNvPr id="8" name="Shape 6"/>
          <p:cNvSpPr/>
          <p:nvPr/>
        </p:nvSpPr>
        <p:spPr>
          <a:xfrm>
            <a:off x="3227832" y="1463040"/>
            <a:ext cx="2606040" cy="1097280"/>
          </a:xfrm>
          <a:prstGeom prst="roundRect">
            <a:avLst>
              <a:gd name="adj" fmla="val 8333"/>
            </a:avLst>
          </a:prstGeom>
          <a:solidFill>
            <a:srgbClr val="F1F5F9"/>
          </a:solidFill>
          <a:ln w="12700">
            <a:solidFill>
              <a:srgbClr val="E2E8F0"/>
            </a:solidFill>
            <a:prstDash val="solid"/>
          </a:ln>
        </p:spPr>
      </p:sp>
      <p:sp>
        <p:nvSpPr>
          <p:cNvPr id="9" name="Text 7"/>
          <p:cNvSpPr/>
          <p:nvPr/>
        </p:nvSpPr>
        <p:spPr>
          <a:xfrm>
            <a:off x="3364992" y="1517904"/>
            <a:ext cx="2331720" cy="548640"/>
          </a:xfrm>
          <a:prstGeom prst="rect">
            <a:avLst/>
          </a:prstGeom>
          <a:noFill/>
          <a:ln/>
        </p:spPr>
        <p:txBody>
          <a:bodyPr wrap="square" lIns="0" tIns="0" rIns="0" bIns="0" rtlCol="0" anchor="ctr"/>
          <a:lstStyle/>
          <a:p>
            <a:pPr indent="0" marL="0">
              <a:buNone/>
            </a:pPr>
            <a:r>
              <a:rPr lang="en-US" sz="3800" b="1" dirty="0">
                <a:solidFill>
                  <a:srgbClr val="0D9488"/>
                </a:solidFill>
                <a:latin typeface="Georgia" pitchFamily="34" charset="0"/>
                <a:ea typeface="Georgia" pitchFamily="34" charset="-122"/>
                <a:cs typeface="Georgia" pitchFamily="34" charset="-120"/>
              </a:rPr>
              <a:t>0.608</a:t>
            </a:r>
            <a:endParaRPr lang="en-US" sz="3800" dirty="0"/>
          </a:p>
        </p:txBody>
      </p:sp>
      <p:sp>
        <p:nvSpPr>
          <p:cNvPr id="10" name="Text 8"/>
          <p:cNvSpPr/>
          <p:nvPr/>
        </p:nvSpPr>
        <p:spPr>
          <a:xfrm>
            <a:off x="3374136" y="2084832"/>
            <a:ext cx="233172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multiclass Brier</a:t>
            </a:r>
            <a:endParaRPr lang="en-US" sz="1250" dirty="0"/>
          </a:p>
        </p:txBody>
      </p:sp>
      <p:sp>
        <p:nvSpPr>
          <p:cNvPr id="11" name="Text 9"/>
          <p:cNvSpPr/>
          <p:nvPr/>
        </p:nvSpPr>
        <p:spPr>
          <a:xfrm>
            <a:off x="3374136" y="2322576"/>
            <a:ext cx="2377440"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probabilities are well-calibrated</a:t>
            </a:r>
            <a:endParaRPr lang="en-US" sz="950" dirty="0"/>
          </a:p>
        </p:txBody>
      </p:sp>
      <p:sp>
        <p:nvSpPr>
          <p:cNvPr id="12" name="Shape 10"/>
          <p:cNvSpPr/>
          <p:nvPr/>
        </p:nvSpPr>
        <p:spPr>
          <a:xfrm>
            <a:off x="5952744" y="1463040"/>
            <a:ext cx="2606040" cy="1097280"/>
          </a:xfrm>
          <a:prstGeom prst="roundRect">
            <a:avLst>
              <a:gd name="adj" fmla="val 8333"/>
            </a:avLst>
          </a:prstGeom>
          <a:solidFill>
            <a:srgbClr val="F1F5F9"/>
          </a:solidFill>
          <a:ln w="12700">
            <a:solidFill>
              <a:srgbClr val="E2E8F0"/>
            </a:solidFill>
            <a:prstDash val="solid"/>
          </a:ln>
        </p:spPr>
      </p:sp>
      <p:sp>
        <p:nvSpPr>
          <p:cNvPr id="13" name="Text 11"/>
          <p:cNvSpPr/>
          <p:nvPr/>
        </p:nvSpPr>
        <p:spPr>
          <a:xfrm>
            <a:off x="6089904" y="1517904"/>
            <a:ext cx="2331720" cy="548640"/>
          </a:xfrm>
          <a:prstGeom prst="rect">
            <a:avLst/>
          </a:prstGeom>
          <a:noFill/>
          <a:ln/>
        </p:spPr>
        <p:txBody>
          <a:bodyPr wrap="square" lIns="0" tIns="0" rIns="0" bIns="0" rtlCol="0" anchor="ctr"/>
          <a:lstStyle/>
          <a:p>
            <a:pPr indent="0" marL="0">
              <a:buNone/>
            </a:pPr>
            <a:r>
              <a:rPr lang="en-US" sz="3800" b="1" dirty="0">
                <a:solidFill>
                  <a:srgbClr val="D97706"/>
                </a:solidFill>
                <a:latin typeface="Georgia" pitchFamily="34" charset="0"/>
                <a:ea typeface="Georgia" pitchFamily="34" charset="-122"/>
                <a:cs typeface="Georgia" pitchFamily="34" charset="-120"/>
              </a:rPr>
              <a:t>0.375</a:t>
            </a:r>
            <a:endParaRPr lang="en-US" sz="3800" dirty="0"/>
          </a:p>
        </p:txBody>
      </p:sp>
      <p:sp>
        <p:nvSpPr>
          <p:cNvPr id="14" name="Text 12"/>
          <p:cNvSpPr/>
          <p:nvPr/>
        </p:nvSpPr>
        <p:spPr>
          <a:xfrm>
            <a:off x="6099048" y="2084832"/>
            <a:ext cx="2331720" cy="256032"/>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macro F1</a:t>
            </a:r>
            <a:endParaRPr lang="en-US" sz="1250" dirty="0"/>
          </a:p>
        </p:txBody>
      </p:sp>
      <p:sp>
        <p:nvSpPr>
          <p:cNvPr id="15" name="Text 13"/>
          <p:cNvSpPr/>
          <p:nvPr/>
        </p:nvSpPr>
        <p:spPr>
          <a:xfrm>
            <a:off x="6099048" y="2322576"/>
            <a:ext cx="2377440" cy="21945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below my 0.40 target — and I know why</a:t>
            </a:r>
            <a:endParaRPr lang="en-US" sz="950" dirty="0"/>
          </a:p>
        </p:txBody>
      </p:sp>
      <p:sp>
        <p:nvSpPr>
          <p:cNvPr id="16" name="Text 14"/>
          <p:cNvSpPr/>
          <p:nvPr/>
        </p:nvSpPr>
        <p:spPr>
          <a:xfrm>
            <a:off x="502920" y="2788920"/>
            <a:ext cx="4160520" cy="731520"/>
          </a:xfrm>
          <a:prstGeom prst="rect">
            <a:avLst/>
          </a:prstGeom>
          <a:noFill/>
          <a:ln/>
        </p:spPr>
        <p:txBody>
          <a:bodyPr wrap="square" lIns="0" tIns="0" rIns="0" bIns="0" rtlCol="0" anchor="ctr"/>
          <a:lstStyle/>
          <a:p>
            <a:pPr indent="0" marL="0">
              <a:lnSpc>
                <a:spcPct val="110000"/>
              </a:lnSpc>
              <a:buNone/>
            </a:pPr>
            <a:r>
              <a:rPr lang="en-US" sz="1300" b="1" dirty="0">
                <a:solidFill>
                  <a:srgbClr val="0F172A"/>
                </a:solidFill>
                <a:latin typeface="Calibri" pitchFamily="34" charset="0"/>
                <a:ea typeface="Calibri" pitchFamily="34" charset="-122"/>
                <a:cs typeface="Calibri" pitchFamily="34" charset="-120"/>
              </a:rPr>
              <a:t>XGBoost</a:t>
            </a:r>
            <a:pPr indent="0" marL="0">
              <a:lnSpc>
                <a:spcPct val="110000"/>
              </a:lnSpc>
              <a:buNone/>
            </a:pPr>
            <a:r>
              <a:rPr lang="en-US" sz="1300" dirty="0">
                <a:solidFill>
                  <a:srgbClr val="334155"/>
                </a:solidFill>
                <a:latin typeface="Calibri" pitchFamily="34" charset="0"/>
                <a:ea typeface="Calibri" pitchFamily="34" charset="-122"/>
                <a:cs typeface="Calibri" pitchFamily="34" charset="-120"/>
              </a:rPr>
              <a:t> + Optuna tuning + isotonic calibration, with </a:t>
            </a:r>
            <a:pPr indent="0" marL="0">
              <a:lnSpc>
                <a:spcPct val="110000"/>
              </a:lnSpc>
              <a:buNone/>
            </a:pPr>
            <a:r>
              <a:rPr lang="en-US" sz="1300" b="1" dirty="0">
                <a:solidFill>
                  <a:srgbClr val="0F172A"/>
                </a:solidFill>
                <a:latin typeface="Calibri" pitchFamily="34" charset="0"/>
                <a:ea typeface="Calibri" pitchFamily="34" charset="-122"/>
                <a:cs typeface="Calibri" pitchFamily="34" charset="-120"/>
              </a:rPr>
              <a:t>SHAP</a:t>
            </a:r>
            <a:pPr indent="0" marL="0">
              <a:lnSpc>
                <a:spcPct val="110000"/>
              </a:lnSpc>
              <a:buNone/>
            </a:pPr>
            <a:r>
              <a:rPr lang="en-US" sz="1300" dirty="0">
                <a:solidFill>
                  <a:srgbClr val="334155"/>
                </a:solidFill>
                <a:latin typeface="Calibri" pitchFamily="34" charset="0"/>
                <a:ea typeface="Calibri" pitchFamily="34" charset="-122"/>
                <a:cs typeface="Calibri" pitchFamily="34" charset="-120"/>
              </a:rPr>
              <a:t> surfacing the top-3 drivers behind every call.</a:t>
            </a:r>
            <a:endParaRPr lang="en-US" sz="1300" dirty="0"/>
          </a:p>
        </p:txBody>
      </p:sp>
      <p:sp>
        <p:nvSpPr>
          <p:cNvPr id="17" name="Text 15"/>
          <p:cNvSpPr/>
          <p:nvPr/>
        </p:nvSpPr>
        <p:spPr>
          <a:xfrm>
            <a:off x="502920" y="3456432"/>
            <a:ext cx="4160520" cy="1280160"/>
          </a:xfrm>
          <a:prstGeom prst="rect">
            <a:avLst/>
          </a:prstGeom>
          <a:noFill/>
          <a:ln/>
        </p:spPr>
        <p:txBody>
          <a:bodyPr wrap="square" lIns="0" tIns="0" rIns="0" bIns="0" rtlCol="0" anchor="ctr"/>
          <a:lstStyle/>
          <a:p>
            <a:pPr indent="0" marL="0">
              <a:lnSpc>
                <a:spcPct val="112000"/>
              </a:lnSpc>
              <a:buNone/>
            </a:pPr>
            <a:r>
              <a:rPr lang="en-US" sz="1200" b="1" dirty="0">
                <a:solidFill>
                  <a:srgbClr val="D97706"/>
                </a:solidFill>
                <a:latin typeface="Calibri" pitchFamily="34" charset="0"/>
                <a:ea typeface="Calibri" pitchFamily="34" charset="-122"/>
                <a:cs typeface="Calibri" pitchFamily="34" charset="-120"/>
              </a:rPr>
              <a:t>Why F1 = 0.375?  </a:t>
            </a:r>
            <a:pPr indent="0" marL="0">
              <a:lnSpc>
                <a:spcPct val="112000"/>
              </a:lnSpc>
              <a:buNone/>
            </a:pPr>
            <a:r>
              <a:rPr lang="en-US" sz="1200" dirty="0">
                <a:solidFill>
                  <a:srgbClr val="334155"/>
                </a:solidFill>
                <a:latin typeface="Calibri" pitchFamily="34" charset="0"/>
                <a:ea typeface="Calibri" pitchFamily="34" charset="-122"/>
                <a:cs typeface="Calibri" pitchFamily="34" charset="-120"/>
              </a:rPr>
              <a:t>I tested leakage, target window, and class balance — it's a genuine data-limited ceiling. Predicting 24h rallies in a calm regime is near the noise floor. That is exactly why this is </a:t>
            </a:r>
            <a:pPr indent="0" marL="0">
              <a:lnSpc>
                <a:spcPct val="112000"/>
              </a:lnSpc>
              <a:buNone/>
            </a:pPr>
            <a:r>
              <a:rPr lang="en-US" sz="1200" b="1" dirty="0">
                <a:solidFill>
                  <a:srgbClr val="0F172A"/>
                </a:solidFill>
                <a:latin typeface="Calibri" pitchFamily="34" charset="0"/>
                <a:ea typeface="Calibri" pitchFamily="34" charset="-122"/>
                <a:cs typeface="Calibri" pitchFamily="34" charset="-120"/>
              </a:rPr>
              <a:t>explainable decision-support, paper-only — never an autopilot.</a:t>
            </a:r>
            <a:endParaRPr lang="en-US" sz="1200" dirty="0"/>
          </a:p>
        </p:txBody>
      </p:sp>
      <p:sp>
        <p:nvSpPr>
          <p:cNvPr id="18" name="Text 16"/>
          <p:cNvSpPr/>
          <p:nvPr/>
        </p:nvSpPr>
        <p:spPr>
          <a:xfrm>
            <a:off x="4937760" y="2743200"/>
            <a:ext cx="370332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3-class macro F1  (random = 0.333)</a:t>
            </a:r>
            <a:endParaRPr lang="en-US" sz="1100" dirty="0"/>
          </a:p>
        </p:txBody>
      </p:sp>
      <p:graphicFrame>
        <p:nvGraphicFramePr>
          <p:cNvPr id="19" name="Chart 0" descr=""/>
          <p:cNvGraphicFramePr/>
          <p:nvPr/>
        </p:nvGraphicFramePr>
        <p:xfrm>
          <a:off x="4846320" y="3017520"/>
          <a:ext cx="3794760" cy="1691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DATA ENGINEERING</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Five public sources — no single point of failure</a:t>
            </a:r>
            <a:endParaRPr lang="en-US" sz="3000" dirty="0"/>
          </a:p>
        </p:txBody>
      </p:sp>
      <p:sp>
        <p:nvSpPr>
          <p:cNvPr id="4" name="Shape 2"/>
          <p:cNvSpPr/>
          <p:nvPr/>
        </p:nvSpPr>
        <p:spPr>
          <a:xfrm>
            <a:off x="502920" y="1481328"/>
            <a:ext cx="64008" cy="566928"/>
          </a:xfrm>
          <a:prstGeom prst="rect">
            <a:avLst/>
          </a:prstGeom>
          <a:solidFill>
            <a:srgbClr val="0D9488"/>
          </a:solidFill>
          <a:ln/>
        </p:spPr>
      </p:sp>
      <p:sp>
        <p:nvSpPr>
          <p:cNvPr id="5" name="Text 3"/>
          <p:cNvSpPr/>
          <p:nvPr/>
        </p:nvSpPr>
        <p:spPr>
          <a:xfrm>
            <a:off x="667512" y="1463040"/>
            <a:ext cx="2468880" cy="292608"/>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Binance (public)</a:t>
            </a:r>
            <a:endParaRPr lang="en-US" sz="1300" dirty="0"/>
          </a:p>
        </p:txBody>
      </p:sp>
      <p:sp>
        <p:nvSpPr>
          <p:cNvPr id="6" name="Text 4"/>
          <p:cNvSpPr/>
          <p:nvPr/>
        </p:nvSpPr>
        <p:spPr>
          <a:xfrm>
            <a:off x="667512" y="1755648"/>
            <a:ext cx="246888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OHLCV — 1h / 4h / 1d, ~2 years</a:t>
            </a:r>
            <a:endParaRPr lang="en-US" sz="1050" dirty="0"/>
          </a:p>
        </p:txBody>
      </p:sp>
      <p:sp>
        <p:nvSpPr>
          <p:cNvPr id="7" name="Shape 5"/>
          <p:cNvSpPr/>
          <p:nvPr/>
        </p:nvSpPr>
        <p:spPr>
          <a:xfrm>
            <a:off x="3246120" y="1481328"/>
            <a:ext cx="64008" cy="566928"/>
          </a:xfrm>
          <a:prstGeom prst="rect">
            <a:avLst/>
          </a:prstGeom>
          <a:solidFill>
            <a:srgbClr val="0D9488"/>
          </a:solidFill>
          <a:ln/>
        </p:spPr>
      </p:sp>
      <p:sp>
        <p:nvSpPr>
          <p:cNvPr id="8" name="Text 6"/>
          <p:cNvSpPr/>
          <p:nvPr/>
        </p:nvSpPr>
        <p:spPr>
          <a:xfrm>
            <a:off x="3410712" y="1463040"/>
            <a:ext cx="2468880" cy="292608"/>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CoinGecko Demo</a:t>
            </a:r>
            <a:endParaRPr lang="en-US" sz="1300" dirty="0"/>
          </a:p>
        </p:txBody>
      </p:sp>
      <p:sp>
        <p:nvSpPr>
          <p:cNvPr id="9" name="Text 7"/>
          <p:cNvSpPr/>
          <p:nvPr/>
        </p:nvSpPr>
        <p:spPr>
          <a:xfrm>
            <a:off x="3410712" y="1755648"/>
            <a:ext cx="246888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Market, community &amp; developer signals</a:t>
            </a:r>
            <a:endParaRPr lang="en-US" sz="1050" dirty="0"/>
          </a:p>
        </p:txBody>
      </p:sp>
      <p:sp>
        <p:nvSpPr>
          <p:cNvPr id="10" name="Shape 8"/>
          <p:cNvSpPr/>
          <p:nvPr/>
        </p:nvSpPr>
        <p:spPr>
          <a:xfrm>
            <a:off x="502920" y="2157984"/>
            <a:ext cx="64008" cy="566928"/>
          </a:xfrm>
          <a:prstGeom prst="rect">
            <a:avLst/>
          </a:prstGeom>
          <a:solidFill>
            <a:srgbClr val="0D9488"/>
          </a:solidFill>
          <a:ln/>
        </p:spPr>
      </p:sp>
      <p:sp>
        <p:nvSpPr>
          <p:cNvPr id="11" name="Text 9"/>
          <p:cNvSpPr/>
          <p:nvPr/>
        </p:nvSpPr>
        <p:spPr>
          <a:xfrm>
            <a:off x="667512" y="2139696"/>
            <a:ext cx="2468880" cy="292608"/>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5× RSS + VADER</a:t>
            </a:r>
            <a:endParaRPr lang="en-US" sz="1300" dirty="0"/>
          </a:p>
        </p:txBody>
      </p:sp>
      <p:sp>
        <p:nvSpPr>
          <p:cNvPr id="12" name="Text 10"/>
          <p:cNvSpPr/>
          <p:nvPr/>
        </p:nvSpPr>
        <p:spPr>
          <a:xfrm>
            <a:off x="667512" y="2432304"/>
            <a:ext cx="246888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News headlines with local sentiment</a:t>
            </a:r>
            <a:endParaRPr lang="en-US" sz="1050" dirty="0"/>
          </a:p>
        </p:txBody>
      </p:sp>
      <p:sp>
        <p:nvSpPr>
          <p:cNvPr id="13" name="Shape 11"/>
          <p:cNvSpPr/>
          <p:nvPr/>
        </p:nvSpPr>
        <p:spPr>
          <a:xfrm>
            <a:off x="3246120" y="2157984"/>
            <a:ext cx="64008" cy="566928"/>
          </a:xfrm>
          <a:prstGeom prst="rect">
            <a:avLst/>
          </a:prstGeom>
          <a:solidFill>
            <a:srgbClr val="0D9488"/>
          </a:solidFill>
          <a:ln/>
        </p:spPr>
      </p:sp>
      <p:sp>
        <p:nvSpPr>
          <p:cNvPr id="14" name="Text 12"/>
          <p:cNvSpPr/>
          <p:nvPr/>
        </p:nvSpPr>
        <p:spPr>
          <a:xfrm>
            <a:off x="3410712" y="2139696"/>
            <a:ext cx="2468880" cy="292608"/>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Blockchain.com</a:t>
            </a:r>
            <a:endParaRPr lang="en-US" sz="1300" dirty="0"/>
          </a:p>
        </p:txBody>
      </p:sp>
      <p:sp>
        <p:nvSpPr>
          <p:cNvPr id="15" name="Text 13"/>
          <p:cNvSpPr/>
          <p:nvPr/>
        </p:nvSpPr>
        <p:spPr>
          <a:xfrm>
            <a:off x="3410712" y="2432304"/>
            <a:ext cx="246888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BTC on-chain (keyless)</a:t>
            </a:r>
            <a:endParaRPr lang="en-US" sz="1050" dirty="0"/>
          </a:p>
        </p:txBody>
      </p:sp>
      <p:sp>
        <p:nvSpPr>
          <p:cNvPr id="16" name="Shape 14"/>
          <p:cNvSpPr/>
          <p:nvPr/>
        </p:nvSpPr>
        <p:spPr>
          <a:xfrm>
            <a:off x="502920" y="2834640"/>
            <a:ext cx="64008" cy="566928"/>
          </a:xfrm>
          <a:prstGeom prst="rect">
            <a:avLst/>
          </a:prstGeom>
          <a:solidFill>
            <a:srgbClr val="0D9488"/>
          </a:solidFill>
          <a:ln/>
        </p:spPr>
      </p:sp>
      <p:sp>
        <p:nvSpPr>
          <p:cNvPr id="17" name="Text 15"/>
          <p:cNvSpPr/>
          <p:nvPr/>
        </p:nvSpPr>
        <p:spPr>
          <a:xfrm>
            <a:off x="667512" y="2816352"/>
            <a:ext cx="2468880" cy="292608"/>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Etherscan</a:t>
            </a:r>
            <a:endParaRPr lang="en-US" sz="1300" dirty="0"/>
          </a:p>
        </p:txBody>
      </p:sp>
      <p:sp>
        <p:nvSpPr>
          <p:cNvPr id="18" name="Text 16"/>
          <p:cNvSpPr/>
          <p:nvPr/>
        </p:nvSpPr>
        <p:spPr>
          <a:xfrm>
            <a:off x="667512" y="3108960"/>
            <a:ext cx="246888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ETH on-chain (free tier)</a:t>
            </a:r>
            <a:endParaRPr lang="en-US" sz="1050" dirty="0"/>
          </a:p>
        </p:txBody>
      </p:sp>
      <p:sp>
        <p:nvSpPr>
          <p:cNvPr id="19" name="Shape 17"/>
          <p:cNvSpPr/>
          <p:nvPr/>
        </p:nvSpPr>
        <p:spPr>
          <a:xfrm>
            <a:off x="3246120" y="2834640"/>
            <a:ext cx="64008" cy="566928"/>
          </a:xfrm>
          <a:prstGeom prst="rect">
            <a:avLst/>
          </a:prstGeom>
          <a:solidFill>
            <a:srgbClr val="0D9488"/>
          </a:solidFill>
          <a:ln/>
        </p:spPr>
      </p:sp>
      <p:sp>
        <p:nvSpPr>
          <p:cNvPr id="20" name="Text 18"/>
          <p:cNvSpPr/>
          <p:nvPr/>
        </p:nvSpPr>
        <p:spPr>
          <a:xfrm>
            <a:off x="3410712" y="2816352"/>
            <a:ext cx="2468880" cy="292608"/>
          </a:xfrm>
          <a:prstGeom prst="rect">
            <a:avLst/>
          </a:prstGeom>
          <a:noFill/>
          <a:ln/>
        </p:spPr>
        <p:txBody>
          <a:bodyPr wrap="square" lIns="0" tIns="0" rIns="0" bIns="0" rtlCol="0" anchor="ctr"/>
          <a:lstStyle/>
          <a:p>
            <a:pPr indent="0" marL="0">
              <a:buNone/>
            </a:pPr>
            <a:r>
              <a:rPr lang="en-US" sz="1300" b="1" dirty="0">
                <a:solidFill>
                  <a:srgbClr val="0F172A"/>
                </a:solidFill>
                <a:latin typeface="Georgia" pitchFamily="34" charset="0"/>
                <a:ea typeface="Georgia" pitchFamily="34" charset="-122"/>
                <a:cs typeface="Georgia" pitchFamily="34" charset="-120"/>
              </a:rPr>
              <a:t>Curated KB</a:t>
            </a:r>
            <a:endParaRPr lang="en-US" sz="1300" dirty="0"/>
          </a:p>
        </p:txBody>
      </p:sp>
      <p:sp>
        <p:nvSpPr>
          <p:cNvPr id="21" name="Text 19"/>
          <p:cNvSpPr/>
          <p:nvPr/>
        </p:nvSpPr>
        <p:spPr>
          <a:xfrm>
            <a:off x="3410712" y="3108960"/>
            <a:ext cx="2468880" cy="29260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Hand-written tokenomics / mechanism</a:t>
            </a:r>
            <a:endParaRPr lang="en-US" sz="1050" dirty="0"/>
          </a:p>
        </p:txBody>
      </p:sp>
      <p:sp>
        <p:nvSpPr>
          <p:cNvPr id="22" name="Shape 20"/>
          <p:cNvSpPr/>
          <p:nvPr/>
        </p:nvSpPr>
        <p:spPr>
          <a:xfrm>
            <a:off x="6172200" y="1481328"/>
            <a:ext cx="2468880" cy="2697480"/>
          </a:xfrm>
          <a:prstGeom prst="roundRect">
            <a:avLst>
              <a:gd name="adj" fmla="val 3704"/>
            </a:avLst>
          </a:prstGeom>
          <a:solidFill>
            <a:srgbClr val="0F172A"/>
          </a:solidFill>
          <a:ln/>
          <a:effectLst>
            <a:outerShdw sx="100000" sy="100000" kx="0" ky="0" algn="bl" rotWithShape="0" blurRad="88900" dist="38100" dir="8100000">
              <a:srgbClr val="0F172A">
                <a:alpha val="16000"/>
              </a:srgbClr>
            </a:outerShdw>
          </a:effectLst>
        </p:spPr>
      </p:sp>
      <p:sp>
        <p:nvSpPr>
          <p:cNvPr id="23" name="Text 21"/>
          <p:cNvSpPr/>
          <p:nvPr/>
        </p:nvSpPr>
        <p:spPr>
          <a:xfrm>
            <a:off x="6355080" y="1664208"/>
            <a:ext cx="2103120" cy="27432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HARD LESSON</a:t>
            </a:r>
            <a:endParaRPr lang="en-US" sz="1100" dirty="0"/>
          </a:p>
        </p:txBody>
      </p:sp>
      <p:sp>
        <p:nvSpPr>
          <p:cNvPr id="24" name="Text 22"/>
          <p:cNvSpPr/>
          <p:nvPr/>
        </p:nvSpPr>
        <p:spPr>
          <a:xfrm>
            <a:off x="6355080" y="1993392"/>
            <a:ext cx="2148840" cy="914400"/>
          </a:xfrm>
          <a:prstGeom prst="rect">
            <a:avLst/>
          </a:prstGeom>
          <a:noFill/>
          <a:ln/>
        </p:spPr>
        <p:txBody>
          <a:bodyPr wrap="square" lIns="0" tIns="0" rIns="0" bIns="0" rtlCol="0" anchor="ctr"/>
          <a:lstStyle/>
          <a:p>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CryptoPanic, Glassnode and the CoinDesk API all died or went paywalled in 2025–26.</a:t>
            </a:r>
            <a:endParaRPr lang="en-US" sz="1250" dirty="0"/>
          </a:p>
        </p:txBody>
      </p:sp>
      <p:sp>
        <p:nvSpPr>
          <p:cNvPr id="25" name="Text 23"/>
          <p:cNvSpPr/>
          <p:nvPr/>
        </p:nvSpPr>
        <p:spPr>
          <a:xfrm>
            <a:off x="6355080" y="2926080"/>
            <a:ext cx="2148840" cy="1188720"/>
          </a:xfrm>
          <a:prstGeom prst="rect">
            <a:avLst/>
          </a:prstGeom>
          <a:noFill/>
          <a:ln/>
        </p:spPr>
        <p:txBody>
          <a:bodyPr wrap="square" lIns="0" tIns="0" rIns="0" bIns="0" rtlCol="0" anchor="ctr"/>
          <a:lstStyle/>
          <a:p>
            <a:pPr indent="0" marL="0">
              <a:lnSpc>
                <a:spcPct val="110000"/>
              </a:lnSpc>
              <a:buNone/>
            </a:pPr>
            <a:r>
              <a:rPr lang="en-US" sz="1150" dirty="0">
                <a:solidFill>
                  <a:srgbClr val="94A3B8"/>
                </a:solidFill>
                <a:latin typeface="Calibri" pitchFamily="34" charset="0"/>
                <a:ea typeface="Calibri" pitchFamily="34" charset="-122"/>
                <a:cs typeface="Calibri" pitchFamily="34" charset="-120"/>
              </a:rPr>
              <a:t>So I designed around free public infrastructure that can't be paywalled. If any source goes down, the pipeline logs and skips — it never crashes.</a:t>
            </a:r>
            <a:endParaRPr lang="en-US" sz="1150" dirty="0"/>
          </a:p>
        </p:txBody>
      </p:sp>
      <p:sp>
        <p:nvSpPr>
          <p:cNvPr id="26" name="Shape 24"/>
          <p:cNvSpPr/>
          <p:nvPr/>
        </p:nvSpPr>
        <p:spPr>
          <a:xfrm>
            <a:off x="502920" y="4389120"/>
            <a:ext cx="5577840" cy="475488"/>
          </a:xfrm>
          <a:prstGeom prst="roundRect">
            <a:avLst>
              <a:gd name="adj" fmla="val 19231"/>
            </a:avLst>
          </a:prstGeom>
          <a:solidFill>
            <a:srgbClr val="F1F5F9"/>
          </a:solidFill>
          <a:ln/>
        </p:spPr>
      </p:sp>
      <p:sp>
        <p:nvSpPr>
          <p:cNvPr id="27" name="Text 25"/>
          <p:cNvSpPr/>
          <p:nvPr/>
        </p:nvSpPr>
        <p:spPr>
          <a:xfrm>
            <a:off x="731520" y="4389120"/>
            <a:ext cx="5212080" cy="47548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~231,000 rows</a:t>
            </a:r>
            <a:pPr indent="0" marL="0">
              <a:buNone/>
            </a:pPr>
            <a:r>
              <a:rPr lang="en-US" sz="1250" dirty="0">
                <a:solidFill>
                  <a:srgbClr val="334155"/>
                </a:solidFill>
                <a:latin typeface="Calibri" pitchFamily="34" charset="0"/>
                <a:ea typeface="Calibri" pitchFamily="34" charset="-122"/>
                <a:cs typeface="Calibri" pitchFamily="34" charset="-120"/>
              </a:rPr>
              <a:t> across 10 coins   ·   </a:t>
            </a:r>
            <a:pPr indent="0" marL="0">
              <a:buNone/>
            </a:pPr>
            <a:r>
              <a:rPr lang="en-US" sz="1250" b="1" dirty="0">
                <a:solidFill>
                  <a:srgbClr val="0F172A"/>
                </a:solidFill>
                <a:latin typeface="Calibri" pitchFamily="34" charset="0"/>
                <a:ea typeface="Calibri" pitchFamily="34" charset="-122"/>
                <a:cs typeface="Calibri" pitchFamily="34" charset="-120"/>
              </a:rPr>
              <a:t>log-and-skip</a:t>
            </a:r>
            <a:pPr indent="0" marL="0">
              <a:buNone/>
            </a:pPr>
            <a:r>
              <a:rPr lang="en-US" sz="1250" dirty="0">
                <a:solidFill>
                  <a:srgbClr val="334155"/>
                </a:solidFill>
                <a:latin typeface="Calibri" pitchFamily="34" charset="0"/>
                <a:ea typeface="Calibri" pitchFamily="34" charset="-122"/>
                <a:cs typeface="Calibri" pitchFamily="34" charset="-120"/>
              </a:rPr>
              <a:t> on every source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RETRIEVAL-AUGMENTED CHAT</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Grounded and cited — by construction</a:t>
            </a:r>
            <a:endParaRPr lang="en-US" sz="3000" dirty="0"/>
          </a:p>
        </p:txBody>
      </p:sp>
      <p:sp>
        <p:nvSpPr>
          <p:cNvPr id="4" name="Text 2"/>
          <p:cNvSpPr/>
          <p:nvPr/>
        </p:nvSpPr>
        <p:spPr>
          <a:xfrm>
            <a:off x="502920" y="1481328"/>
            <a:ext cx="4937760" cy="1371600"/>
          </a:xfrm>
          <a:prstGeom prst="rect">
            <a:avLst/>
          </a:prstGeom>
          <a:noFill/>
          <a:ln/>
        </p:spPr>
        <p:txBody>
          <a:bodyPr wrap="square" lIns="0" tIns="0" rIns="0" bIns="0" rtlCol="0" anchor="ctr"/>
          <a:lstStyle/>
          <a:p>
            <a:pPr indent="0" marL="0">
              <a:lnSpc>
                <a:spcPct val="115000"/>
              </a:lnSpc>
              <a:buNone/>
            </a:pPr>
            <a:r>
              <a:rPr lang="en-US" sz="1350" b="1" dirty="0">
                <a:solidFill>
                  <a:srgbClr val="0F172A"/>
                </a:solidFill>
                <a:latin typeface="Calibri" pitchFamily="34" charset="0"/>
                <a:ea typeface="Calibri" pitchFamily="34" charset="-122"/>
                <a:cs typeface="Calibri" pitchFamily="34" charset="-120"/>
              </a:rPr>
              <a:t>Spring AI + pgvector</a:t>
            </a:r>
            <a:pPr indent="0" marL="0">
              <a:lnSpc>
                <a:spcPct val="115000"/>
              </a:lnSpc>
              <a:buNone/>
            </a:pPr>
            <a:r>
              <a:rPr lang="en-US" sz="1350" dirty="0">
                <a:solidFill>
                  <a:srgbClr val="334155"/>
                </a:solidFill>
                <a:latin typeface="Calibri" pitchFamily="34" charset="0"/>
                <a:ea typeface="Calibri" pitchFamily="34" charset="-122"/>
                <a:cs typeface="Calibri" pitchFamily="34" charset="-120"/>
              </a:rPr>
              <a:t> index ~256 chunks: news, weekly on-chain summaries, fundamentals, and a hand-written 10-coin knowledge base. A rule-based classifier routes the query, then a recency-aware retriever returns the top 8.</a:t>
            </a:r>
            <a:endParaRPr lang="en-US" sz="1350" dirty="0"/>
          </a:p>
        </p:txBody>
      </p:sp>
      <p:sp>
        <p:nvSpPr>
          <p:cNvPr id="5" name="Shape 3"/>
          <p:cNvSpPr/>
          <p:nvPr/>
        </p:nvSpPr>
        <p:spPr>
          <a:xfrm>
            <a:off x="502920" y="2971800"/>
            <a:ext cx="310896" cy="310896"/>
          </a:xfrm>
          <a:prstGeom prst="ellipse">
            <a:avLst/>
          </a:prstGeom>
          <a:solidFill>
            <a:srgbClr val="0D9488"/>
          </a:solidFill>
          <a:ln/>
        </p:spPr>
      </p:sp>
      <p:sp>
        <p:nvSpPr>
          <p:cNvPr id="6" name="Text 4"/>
          <p:cNvSpPr/>
          <p:nvPr/>
        </p:nvSpPr>
        <p:spPr>
          <a:xfrm>
            <a:off x="502920" y="29718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05840" y="2935224"/>
            <a:ext cx="4480560" cy="292608"/>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Refuses trading advice</a:t>
            </a:r>
            <a:endParaRPr lang="en-US" sz="1350" dirty="0"/>
          </a:p>
        </p:txBody>
      </p:sp>
      <p:sp>
        <p:nvSpPr>
          <p:cNvPr id="8" name="Text 6"/>
          <p:cNvSpPr/>
          <p:nvPr/>
        </p:nvSpPr>
        <p:spPr>
          <a:xfrm>
            <a:off x="1005840" y="3227832"/>
            <a:ext cx="448056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“Should I buy?” is declined before any model call.</a:t>
            </a:r>
            <a:endParaRPr lang="en-US" sz="1100" dirty="0"/>
          </a:p>
        </p:txBody>
      </p:sp>
      <p:sp>
        <p:nvSpPr>
          <p:cNvPr id="9" name="Shape 7"/>
          <p:cNvSpPr/>
          <p:nvPr/>
        </p:nvSpPr>
        <p:spPr>
          <a:xfrm>
            <a:off x="502920" y="3630168"/>
            <a:ext cx="310896" cy="310896"/>
          </a:xfrm>
          <a:prstGeom prst="ellipse">
            <a:avLst/>
          </a:prstGeom>
          <a:solidFill>
            <a:srgbClr val="0D9488"/>
          </a:solidFill>
          <a:ln/>
        </p:spPr>
      </p:sp>
      <p:sp>
        <p:nvSpPr>
          <p:cNvPr id="10" name="Text 8"/>
          <p:cNvSpPr/>
          <p:nvPr/>
        </p:nvSpPr>
        <p:spPr>
          <a:xfrm>
            <a:off x="502920" y="36301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005840" y="3593592"/>
            <a:ext cx="4480560" cy="292608"/>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Refuses when uncovered</a:t>
            </a:r>
            <a:endParaRPr lang="en-US" sz="1350" dirty="0"/>
          </a:p>
        </p:txBody>
      </p:sp>
      <p:sp>
        <p:nvSpPr>
          <p:cNvPr id="12" name="Text 10"/>
          <p:cNvSpPr/>
          <p:nvPr/>
        </p:nvSpPr>
        <p:spPr>
          <a:xfrm>
            <a:off x="1005840" y="3886200"/>
            <a:ext cx="448056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If retrieval is empty, it says so — it won't guess.</a:t>
            </a:r>
            <a:endParaRPr lang="en-US" sz="1100" dirty="0"/>
          </a:p>
        </p:txBody>
      </p:sp>
      <p:sp>
        <p:nvSpPr>
          <p:cNvPr id="13" name="Shape 11"/>
          <p:cNvSpPr/>
          <p:nvPr/>
        </p:nvSpPr>
        <p:spPr>
          <a:xfrm>
            <a:off x="502920" y="4288536"/>
            <a:ext cx="310896" cy="310896"/>
          </a:xfrm>
          <a:prstGeom prst="ellipse">
            <a:avLst/>
          </a:prstGeom>
          <a:solidFill>
            <a:srgbClr val="0D9488"/>
          </a:solidFill>
          <a:ln/>
        </p:spPr>
      </p:sp>
      <p:sp>
        <p:nvSpPr>
          <p:cNvPr id="14" name="Text 12"/>
          <p:cNvSpPr/>
          <p:nvPr/>
        </p:nvSpPr>
        <p:spPr>
          <a:xfrm>
            <a:off x="502920" y="42885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005840" y="4251960"/>
            <a:ext cx="4480560" cy="292608"/>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No citation → no answer</a:t>
            </a:r>
            <a:endParaRPr lang="en-US" sz="1350" dirty="0"/>
          </a:p>
        </p:txBody>
      </p:sp>
      <p:sp>
        <p:nvSpPr>
          <p:cNvPr id="16" name="Text 14"/>
          <p:cNvSpPr/>
          <p:nvPr/>
        </p:nvSpPr>
        <p:spPr>
          <a:xfrm>
            <a:off x="1005840" y="4544568"/>
            <a:ext cx="448056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Any reply without a [N] citation is replaced by a refusal.</a:t>
            </a:r>
            <a:endParaRPr lang="en-US" sz="1100" dirty="0"/>
          </a:p>
        </p:txBody>
      </p:sp>
      <p:sp>
        <p:nvSpPr>
          <p:cNvPr id="17" name="Shape 15"/>
          <p:cNvSpPr/>
          <p:nvPr/>
        </p:nvSpPr>
        <p:spPr>
          <a:xfrm>
            <a:off x="5852160" y="1481328"/>
            <a:ext cx="2788920" cy="3108960"/>
          </a:xfrm>
          <a:prstGeom prst="roundRect">
            <a:avLst>
              <a:gd name="adj" fmla="val 3934"/>
            </a:avLst>
          </a:prstGeom>
          <a:solidFill>
            <a:srgbClr val="0F172A"/>
          </a:solidFill>
          <a:ln/>
          <a:effectLst>
            <a:outerShdw sx="100000" sy="100000" kx="0" ky="0" algn="bl" rotWithShape="0" blurRad="88900" dist="38100" dir="8100000">
              <a:srgbClr val="0F172A">
                <a:alpha val="16000"/>
              </a:srgbClr>
            </a:outerShdw>
          </a:effectLst>
        </p:spPr>
      </p:sp>
      <p:sp>
        <p:nvSpPr>
          <p:cNvPr id="18" name="Text 16"/>
          <p:cNvSpPr/>
          <p:nvPr/>
        </p:nvSpPr>
        <p:spPr>
          <a:xfrm>
            <a:off x="6080760" y="1691640"/>
            <a:ext cx="2377440" cy="27432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THE PAYOFF</a:t>
            </a:r>
            <a:endParaRPr lang="en-US" sz="1100" dirty="0"/>
          </a:p>
        </p:txBody>
      </p:sp>
      <p:sp>
        <p:nvSpPr>
          <p:cNvPr id="19" name="Text 17"/>
          <p:cNvSpPr/>
          <p:nvPr/>
        </p:nvSpPr>
        <p:spPr>
          <a:xfrm>
            <a:off x="6080760" y="2011680"/>
            <a:ext cx="2377440" cy="1188720"/>
          </a:xfrm>
          <a:prstGeom prst="rect">
            <a:avLst/>
          </a:prstGeom>
          <a:noFill/>
          <a:ln/>
        </p:spPr>
        <p:txBody>
          <a:bodyPr wrap="square" lIns="0" tIns="0" rIns="0" bIns="0" rtlCol="0" anchor="ctr"/>
          <a:lstStyle/>
          <a:p>
            <a:pPr indent="0" marL="0">
              <a:lnSpc>
                <a:spcPct val="100000"/>
              </a:lnSpc>
              <a:buNone/>
            </a:pPr>
            <a:r>
              <a:rPr lang="en-US" sz="2700" b="1" dirty="0">
                <a:solidFill>
                  <a:srgbClr val="FFFFFF"/>
                </a:solidFill>
                <a:latin typeface="Georgia" pitchFamily="34" charset="0"/>
                <a:ea typeface="Georgia" pitchFamily="34" charset="-122"/>
                <a:cs typeface="Georgia" pitchFamily="34" charset="-120"/>
              </a:rPr>
              <a:t>It can't</a:t>
            </a:r>
            <a:endParaRPr lang="en-US" sz="2700" dirty="0"/>
          </a:p>
          <a:p>
            <a:pPr indent="0" marL="0">
              <a:lnSpc>
                <a:spcPct val="100000"/>
              </a:lnSpc>
              <a:buNone/>
            </a:pPr>
            <a:r>
              <a:rPr lang="en-US" sz="2700" b="1" dirty="0">
                <a:solidFill>
                  <a:srgbClr val="FFFFFF"/>
                </a:solidFill>
                <a:latin typeface="Georgia" pitchFamily="34" charset="0"/>
                <a:ea typeface="Georgia" pitchFamily="34" charset="-122"/>
                <a:cs typeface="Georgia" pitchFamily="34" charset="-120"/>
              </a:rPr>
              <a:t>hallucinate</a:t>
            </a:r>
            <a:endParaRPr lang="en-US" sz="2700" dirty="0"/>
          </a:p>
          <a:p>
            <a:pPr indent="0" marL="0">
              <a:lnSpc>
                <a:spcPct val="100000"/>
              </a:lnSpc>
              <a:buNone/>
            </a:pPr>
            <a:r>
              <a:rPr lang="en-US" sz="2700" b="1" dirty="0">
                <a:solidFill>
                  <a:srgbClr val="FFFFFF"/>
                </a:solidFill>
                <a:latin typeface="Georgia" pitchFamily="34" charset="0"/>
                <a:ea typeface="Georgia" pitchFamily="34" charset="-122"/>
                <a:cs typeface="Georgia" pitchFamily="34" charset="-120"/>
              </a:rPr>
              <a:t>numbers.</a:t>
            </a:r>
            <a:endParaRPr lang="en-US" sz="2700" dirty="0"/>
          </a:p>
        </p:txBody>
      </p:sp>
      <p:sp>
        <p:nvSpPr>
          <p:cNvPr id="20" name="Text 18"/>
          <p:cNvSpPr/>
          <p:nvPr/>
        </p:nvSpPr>
        <p:spPr>
          <a:xfrm>
            <a:off x="6080760" y="3383280"/>
            <a:ext cx="2377440" cy="1097280"/>
          </a:xfrm>
          <a:prstGeom prst="rect">
            <a:avLst/>
          </a:prstGeom>
          <a:noFill/>
          <a:ln/>
        </p:spPr>
        <p:txBody>
          <a:bodyPr wrap="square" lIns="0" tIns="0" rIns="0" bIns="0" rtlCol="0" anchor="ctr"/>
          <a:lstStyle/>
          <a:p>
            <a:pPr indent="0" marL="0">
              <a:lnSpc>
                <a:spcPct val="112000"/>
              </a:lnSpc>
              <a:buNone/>
            </a:pPr>
            <a:r>
              <a:rPr lang="en-US" sz="1150" dirty="0">
                <a:solidFill>
                  <a:srgbClr val="94A3B8"/>
                </a:solidFill>
                <a:latin typeface="Calibri" pitchFamily="34" charset="0"/>
                <a:ea typeface="Calibri" pitchFamily="34" charset="-122"/>
                <a:cs typeface="Calibri" pitchFamily="34" charset="-120"/>
              </a:rPr>
              <a:t>Every factual claim is traceable to a retrieved source, or the system declines. That's the difference between a demo and something you'd trust.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D9488"/>
          </a:solidFill>
          <a:ln/>
        </p:spPr>
      </p:sp>
      <p:sp>
        <p:nvSpPr>
          <p:cNvPr id="3" name="Text 1"/>
          <p:cNvSpPr/>
          <p:nvPr/>
        </p:nvSpPr>
        <p:spPr>
          <a:xfrm>
            <a:off x="640080" y="502920"/>
            <a:ext cx="5486400" cy="365760"/>
          </a:xfrm>
          <a:prstGeom prst="rect">
            <a:avLst/>
          </a:prstGeom>
          <a:noFill/>
          <a:ln/>
        </p:spPr>
        <p:txBody>
          <a:bodyPr wrap="square" lIns="0" tIns="0" rIns="0" bIns="0" rtlCol="0" anchor="ctr"/>
          <a:lstStyle/>
          <a:p>
            <a:pPr indent="0" marL="0">
              <a:buNone/>
            </a:pPr>
            <a:r>
              <a:rPr lang="en-US" sz="1300" b="1" spc="300" kern="0" dirty="0">
                <a:solidFill>
                  <a:srgbClr val="2DD4BF"/>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640080" y="86868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Running locally — docker compose up</a:t>
            </a:r>
            <a:endParaRPr lang="en-US" sz="3000" dirty="0"/>
          </a:p>
        </p:txBody>
      </p:sp>
      <p:sp>
        <p:nvSpPr>
          <p:cNvPr id="5" name="Shape 3"/>
          <p:cNvSpPr/>
          <p:nvPr/>
        </p:nvSpPr>
        <p:spPr>
          <a:xfrm>
            <a:off x="640080" y="1783080"/>
            <a:ext cx="384048" cy="384048"/>
          </a:xfrm>
          <a:prstGeom prst="ellipse">
            <a:avLst/>
          </a:prstGeom>
          <a:solidFill>
            <a:srgbClr val="0D9488"/>
          </a:solidFill>
          <a:ln/>
        </p:spPr>
      </p:sp>
      <p:sp>
        <p:nvSpPr>
          <p:cNvPr id="6" name="Text 4"/>
          <p:cNvSpPr/>
          <p:nvPr/>
        </p:nvSpPr>
        <p:spPr>
          <a:xfrm>
            <a:off x="640080" y="1783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88720" y="1801368"/>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Markets  </a:t>
            </a:r>
            <a:pPr indent="0" marL="0">
              <a:buNone/>
            </a:pPr>
            <a:r>
              <a:rPr lang="en-US" sz="1500" dirty="0">
                <a:solidFill>
                  <a:srgbClr val="94A3B8"/>
                </a:solidFill>
                <a:latin typeface="Calibri" pitchFamily="34" charset="0"/>
                <a:ea typeface="Calibri" pitchFamily="34" charset="-122"/>
                <a:cs typeface="Calibri" pitchFamily="34" charset="-120"/>
              </a:rPr>
              <a:t>— browse the 10 coins and latest prices</a:t>
            </a:r>
            <a:endParaRPr lang="en-US" sz="1500" dirty="0"/>
          </a:p>
        </p:txBody>
      </p:sp>
      <p:sp>
        <p:nvSpPr>
          <p:cNvPr id="8" name="Shape 6"/>
          <p:cNvSpPr/>
          <p:nvPr/>
        </p:nvSpPr>
        <p:spPr>
          <a:xfrm>
            <a:off x="832104" y="2167128"/>
            <a:ext cx="0" cy="164592"/>
          </a:xfrm>
          <a:prstGeom prst="line">
            <a:avLst/>
          </a:prstGeom>
          <a:noFill/>
          <a:ln w="25400">
            <a:solidFill>
              <a:srgbClr val="1E293B"/>
            </a:solidFill>
            <a:prstDash val="solid"/>
          </a:ln>
        </p:spPr>
      </p:sp>
      <p:sp>
        <p:nvSpPr>
          <p:cNvPr id="9" name="Shape 7"/>
          <p:cNvSpPr/>
          <p:nvPr/>
        </p:nvSpPr>
        <p:spPr>
          <a:xfrm>
            <a:off x="640080" y="2331720"/>
            <a:ext cx="384048" cy="384048"/>
          </a:xfrm>
          <a:prstGeom prst="ellipse">
            <a:avLst/>
          </a:prstGeom>
          <a:solidFill>
            <a:srgbClr val="0D9488"/>
          </a:solidFill>
          <a:ln/>
        </p:spPr>
      </p:sp>
      <p:sp>
        <p:nvSpPr>
          <p:cNvPr id="10" name="Text 8"/>
          <p:cNvSpPr/>
          <p:nvPr/>
        </p:nvSpPr>
        <p:spPr>
          <a:xfrm>
            <a:off x="640080" y="2331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88720" y="2350008"/>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Signal  </a:t>
            </a:r>
            <a:pPr indent="0" marL="0">
              <a:buNone/>
            </a:pPr>
            <a:r>
              <a:rPr lang="en-US" sz="1500" dirty="0">
                <a:solidFill>
                  <a:srgbClr val="94A3B8"/>
                </a:solidFill>
                <a:latin typeface="Calibri" pitchFamily="34" charset="0"/>
                <a:ea typeface="Calibri" pitchFamily="34" charset="-122"/>
                <a:cs typeface="Calibri" pitchFamily="34" charset="-120"/>
              </a:rPr>
              <a:t>— open one prediction and read its top SHAP drivers</a:t>
            </a:r>
            <a:endParaRPr lang="en-US" sz="1500" dirty="0"/>
          </a:p>
        </p:txBody>
      </p:sp>
      <p:sp>
        <p:nvSpPr>
          <p:cNvPr id="12" name="Shape 10"/>
          <p:cNvSpPr/>
          <p:nvPr/>
        </p:nvSpPr>
        <p:spPr>
          <a:xfrm>
            <a:off x="832104" y="2715768"/>
            <a:ext cx="0" cy="164592"/>
          </a:xfrm>
          <a:prstGeom prst="line">
            <a:avLst/>
          </a:prstGeom>
          <a:noFill/>
          <a:ln w="25400">
            <a:solidFill>
              <a:srgbClr val="1E293B"/>
            </a:solidFill>
            <a:prstDash val="solid"/>
          </a:ln>
        </p:spPr>
      </p:sp>
      <p:sp>
        <p:nvSpPr>
          <p:cNvPr id="13" name="Shape 11"/>
          <p:cNvSpPr/>
          <p:nvPr/>
        </p:nvSpPr>
        <p:spPr>
          <a:xfrm>
            <a:off x="640080" y="2880360"/>
            <a:ext cx="384048" cy="384048"/>
          </a:xfrm>
          <a:prstGeom prst="ellipse">
            <a:avLst/>
          </a:prstGeom>
          <a:solidFill>
            <a:srgbClr val="0D9488"/>
          </a:solidFill>
          <a:ln/>
        </p:spPr>
      </p:sp>
      <p:sp>
        <p:nvSpPr>
          <p:cNvPr id="14" name="Text 12"/>
          <p:cNvSpPr/>
          <p:nvPr/>
        </p:nvSpPr>
        <p:spPr>
          <a:xfrm>
            <a:off x="640080" y="2880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188720" y="2898648"/>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Ask the Analyst  </a:t>
            </a:r>
            <a:pPr indent="0" marL="0">
              <a:buNone/>
            </a:pPr>
            <a:r>
              <a:rPr lang="en-US" sz="1500" dirty="0">
                <a:solidFill>
                  <a:srgbClr val="94A3B8"/>
                </a:solidFill>
                <a:latin typeface="Calibri" pitchFamily="34" charset="0"/>
                <a:ea typeface="Calibri" pitchFamily="34" charset="-122"/>
                <a:cs typeface="Calibri" pitchFamily="34" charset="-120"/>
              </a:rPr>
              <a:t>— a question → a grounded, cited answer</a:t>
            </a:r>
            <a:endParaRPr lang="en-US" sz="1500" dirty="0"/>
          </a:p>
        </p:txBody>
      </p:sp>
      <p:sp>
        <p:nvSpPr>
          <p:cNvPr id="16" name="Shape 14"/>
          <p:cNvSpPr/>
          <p:nvPr/>
        </p:nvSpPr>
        <p:spPr>
          <a:xfrm>
            <a:off x="832104" y="3264408"/>
            <a:ext cx="0" cy="164592"/>
          </a:xfrm>
          <a:prstGeom prst="line">
            <a:avLst/>
          </a:prstGeom>
          <a:noFill/>
          <a:ln w="25400">
            <a:solidFill>
              <a:srgbClr val="1E293B"/>
            </a:solidFill>
            <a:prstDash val="solid"/>
          </a:ln>
        </p:spPr>
      </p:sp>
      <p:sp>
        <p:nvSpPr>
          <p:cNvPr id="17" name="Shape 15"/>
          <p:cNvSpPr/>
          <p:nvPr/>
        </p:nvSpPr>
        <p:spPr>
          <a:xfrm>
            <a:off x="640080" y="3429000"/>
            <a:ext cx="384048" cy="384048"/>
          </a:xfrm>
          <a:prstGeom prst="ellipse">
            <a:avLst/>
          </a:prstGeom>
          <a:solidFill>
            <a:srgbClr val="0D9488"/>
          </a:solidFill>
          <a:ln/>
        </p:spPr>
      </p:sp>
      <p:sp>
        <p:nvSpPr>
          <p:cNvPr id="18" name="Text 16"/>
          <p:cNvSpPr/>
          <p:nvPr/>
        </p:nvSpPr>
        <p:spPr>
          <a:xfrm>
            <a:off x="640080" y="3429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188720" y="3447288"/>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Paper trade  </a:t>
            </a:r>
            <a:pPr indent="0" marL="0">
              <a:buNone/>
            </a:pPr>
            <a:r>
              <a:rPr lang="en-US" sz="1500" dirty="0">
                <a:solidFill>
                  <a:srgbClr val="94A3B8"/>
                </a:solidFill>
                <a:latin typeface="Calibri" pitchFamily="34" charset="0"/>
                <a:ea typeface="Calibri" pitchFamily="34" charset="-122"/>
                <a:cs typeface="Calibri" pitchFamily="34" charset="-120"/>
              </a:rPr>
              <a:t>— place a simulated order</a:t>
            </a:r>
            <a:endParaRPr lang="en-US" sz="1500" dirty="0"/>
          </a:p>
        </p:txBody>
      </p:sp>
      <p:sp>
        <p:nvSpPr>
          <p:cNvPr id="20" name="Shape 18"/>
          <p:cNvSpPr/>
          <p:nvPr/>
        </p:nvSpPr>
        <p:spPr>
          <a:xfrm>
            <a:off x="832104" y="3813048"/>
            <a:ext cx="0" cy="164592"/>
          </a:xfrm>
          <a:prstGeom prst="line">
            <a:avLst/>
          </a:prstGeom>
          <a:noFill/>
          <a:ln w="25400">
            <a:solidFill>
              <a:srgbClr val="1E293B"/>
            </a:solidFill>
            <a:prstDash val="solid"/>
          </a:ln>
        </p:spPr>
      </p:sp>
      <p:sp>
        <p:nvSpPr>
          <p:cNvPr id="21" name="Shape 19"/>
          <p:cNvSpPr/>
          <p:nvPr/>
        </p:nvSpPr>
        <p:spPr>
          <a:xfrm>
            <a:off x="640080" y="3977640"/>
            <a:ext cx="384048" cy="384048"/>
          </a:xfrm>
          <a:prstGeom prst="ellipse">
            <a:avLst/>
          </a:prstGeom>
          <a:solidFill>
            <a:srgbClr val="0D9488"/>
          </a:solidFill>
          <a:ln/>
        </p:spPr>
      </p:sp>
      <p:sp>
        <p:nvSpPr>
          <p:cNvPr id="22" name="Text 20"/>
          <p:cNvSpPr/>
          <p:nvPr/>
        </p:nvSpPr>
        <p:spPr>
          <a:xfrm>
            <a:off x="640080" y="3977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188720" y="3995928"/>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Performance  </a:t>
            </a:r>
            <a:pPr indent="0" marL="0">
              <a:buNone/>
            </a:pPr>
            <a:r>
              <a:rPr lang="en-US" sz="1500" dirty="0">
                <a:solidFill>
                  <a:srgbClr val="94A3B8"/>
                </a:solidFill>
                <a:latin typeface="Calibri" pitchFamily="34" charset="0"/>
                <a:ea typeface="Calibri" pitchFamily="34" charset="-122"/>
                <a:cs typeface="Calibri" pitchFamily="34" charset="-120"/>
              </a:rPr>
              <a:t>— equity curve &amp; logged trades</a:t>
            </a:r>
            <a:endParaRPr lang="en-US" sz="1500" dirty="0"/>
          </a:p>
        </p:txBody>
      </p:sp>
      <p:sp>
        <p:nvSpPr>
          <p:cNvPr id="24" name="Text 22"/>
          <p:cNvSpPr/>
          <p:nvPr/>
        </p:nvSpPr>
        <p:spPr>
          <a:xfrm>
            <a:off x="640080" y="4617720"/>
            <a:ext cx="7955280" cy="32004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Backup: a screen recording is ready in case the network or laptop misbehaves.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0" cy="274320"/>
          </a:xfrm>
          <a:prstGeom prst="rect">
            <a:avLst/>
          </a:prstGeom>
          <a:noFill/>
          <a:ln/>
        </p:spPr>
        <p:txBody>
          <a:bodyPr wrap="square" lIns="0" tIns="0" rIns="0" bIns="0"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ENGINEERING DECISIONS</a:t>
            </a:r>
            <a:endParaRPr lang="en-US" sz="120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0F172A"/>
                </a:solidFill>
                <a:latin typeface="Georgia" pitchFamily="34" charset="0"/>
                <a:ea typeface="Georgia" pitchFamily="34" charset="-122"/>
                <a:cs typeface="Georgia" pitchFamily="34" charset="-120"/>
              </a:rPr>
              <a:t>The choices I'd defend in an interview</a:t>
            </a:r>
            <a:endParaRPr lang="en-US" sz="3000" dirty="0"/>
          </a:p>
        </p:txBody>
      </p:sp>
      <p:sp>
        <p:nvSpPr>
          <p:cNvPr id="4" name="Shape 2"/>
          <p:cNvSpPr/>
          <p:nvPr/>
        </p:nvSpPr>
        <p:spPr>
          <a:xfrm>
            <a:off x="502920" y="1481328"/>
            <a:ext cx="3931920" cy="896112"/>
          </a:xfrm>
          <a:prstGeom prst="roundRect">
            <a:avLst>
              <a:gd name="adj" fmla="val 9184"/>
            </a:avLst>
          </a:prstGeom>
          <a:solidFill>
            <a:srgbClr val="F1F5F9"/>
          </a:solidFill>
          <a:ln w="12700">
            <a:solidFill>
              <a:srgbClr val="E2E8F0"/>
            </a:solidFill>
            <a:prstDash val="solid"/>
          </a:ln>
        </p:spPr>
      </p:sp>
      <p:sp>
        <p:nvSpPr>
          <p:cNvPr id="5" name="Shape 3"/>
          <p:cNvSpPr/>
          <p:nvPr/>
        </p:nvSpPr>
        <p:spPr>
          <a:xfrm>
            <a:off x="667512" y="1737360"/>
            <a:ext cx="365760" cy="365760"/>
          </a:xfrm>
          <a:prstGeom prst="ellipse">
            <a:avLst/>
          </a:prstGeom>
          <a:solidFill>
            <a:srgbClr val="0D9488"/>
          </a:solidFill>
          <a:ln/>
        </p:spPr>
      </p:sp>
      <p:sp>
        <p:nvSpPr>
          <p:cNvPr id="6" name="Text 4"/>
          <p:cNvSpPr/>
          <p:nvPr/>
        </p:nvSpPr>
        <p:spPr>
          <a:xfrm>
            <a:off x="667512" y="1737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61288" y="1600200"/>
            <a:ext cx="3154680" cy="329184"/>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Database as the polyglot boundary</a:t>
            </a:r>
            <a:endParaRPr lang="en-US" sz="1350" dirty="0"/>
          </a:p>
        </p:txBody>
      </p:sp>
      <p:sp>
        <p:nvSpPr>
          <p:cNvPr id="8" name="Text 6"/>
          <p:cNvSpPr/>
          <p:nvPr/>
        </p:nvSpPr>
        <p:spPr>
          <a:xfrm>
            <a:off x="1161288" y="1920240"/>
            <a:ext cx="3154680" cy="384048"/>
          </a:xfrm>
          <a:prstGeom prst="rect">
            <a:avLst/>
          </a:prstGeom>
          <a:noFill/>
          <a:ln/>
        </p:spPr>
        <p:txBody>
          <a:bodyPr wrap="square" lIns="0" tIns="0" rIns="0" bIns="0" rtlCol="0" anchor="ctr"/>
          <a:lstStyle/>
          <a:p>
            <a:pPr indent="0" marL="0">
              <a:lnSpc>
                <a:spcPct val="100000"/>
              </a:lnSpc>
              <a:buNone/>
            </a:pPr>
            <a:r>
              <a:rPr lang="en-US" sz="1050" dirty="0">
                <a:solidFill>
                  <a:srgbClr val="334155"/>
                </a:solidFill>
                <a:latin typeface="Calibri" pitchFamily="34" charset="0"/>
                <a:ea typeface="Calibri" pitchFamily="34" charset="-122"/>
                <a:cs typeface="Calibri" pitchFamily="34" charset="-120"/>
              </a:rPr>
              <a:t>Two languages cooperate through one schema — no brittle RPC.</a:t>
            </a:r>
            <a:endParaRPr lang="en-US" sz="1050" dirty="0"/>
          </a:p>
        </p:txBody>
      </p:sp>
      <p:sp>
        <p:nvSpPr>
          <p:cNvPr id="9" name="Shape 7"/>
          <p:cNvSpPr/>
          <p:nvPr/>
        </p:nvSpPr>
        <p:spPr>
          <a:xfrm>
            <a:off x="4663440" y="1481328"/>
            <a:ext cx="3931920" cy="896112"/>
          </a:xfrm>
          <a:prstGeom prst="roundRect">
            <a:avLst>
              <a:gd name="adj" fmla="val 9184"/>
            </a:avLst>
          </a:prstGeom>
          <a:solidFill>
            <a:srgbClr val="F1F5F9"/>
          </a:solidFill>
          <a:ln w="12700">
            <a:solidFill>
              <a:srgbClr val="E2E8F0"/>
            </a:solidFill>
            <a:prstDash val="solid"/>
          </a:ln>
        </p:spPr>
      </p:sp>
      <p:sp>
        <p:nvSpPr>
          <p:cNvPr id="10" name="Shape 8"/>
          <p:cNvSpPr/>
          <p:nvPr/>
        </p:nvSpPr>
        <p:spPr>
          <a:xfrm>
            <a:off x="4828032" y="1737360"/>
            <a:ext cx="365760" cy="365760"/>
          </a:xfrm>
          <a:prstGeom prst="ellipse">
            <a:avLst/>
          </a:prstGeom>
          <a:solidFill>
            <a:srgbClr val="0D9488"/>
          </a:solidFill>
          <a:ln/>
        </p:spPr>
      </p:sp>
      <p:sp>
        <p:nvSpPr>
          <p:cNvPr id="11" name="Text 9"/>
          <p:cNvSpPr/>
          <p:nvPr/>
        </p:nvSpPr>
        <p:spPr>
          <a:xfrm>
            <a:off x="4828032" y="1737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321808" y="1600200"/>
            <a:ext cx="3154680" cy="329184"/>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Modular monolith, not microservices</a:t>
            </a:r>
            <a:endParaRPr lang="en-US" sz="1350" dirty="0"/>
          </a:p>
        </p:txBody>
      </p:sp>
      <p:sp>
        <p:nvSpPr>
          <p:cNvPr id="13" name="Text 11"/>
          <p:cNvSpPr/>
          <p:nvPr/>
        </p:nvSpPr>
        <p:spPr>
          <a:xfrm>
            <a:off x="5321808" y="1920240"/>
            <a:ext cx="3154680" cy="384048"/>
          </a:xfrm>
          <a:prstGeom prst="rect">
            <a:avLst/>
          </a:prstGeom>
          <a:noFill/>
          <a:ln/>
        </p:spPr>
        <p:txBody>
          <a:bodyPr wrap="square" lIns="0" tIns="0" rIns="0" bIns="0" rtlCol="0" anchor="ctr"/>
          <a:lstStyle/>
          <a:p>
            <a:pPr indent="0" marL="0">
              <a:lnSpc>
                <a:spcPct val="100000"/>
              </a:lnSpc>
              <a:buNone/>
            </a:pPr>
            <a:r>
              <a:rPr lang="en-US" sz="1050" dirty="0">
                <a:solidFill>
                  <a:srgbClr val="334155"/>
                </a:solidFill>
                <a:latin typeface="Calibri" pitchFamily="34" charset="0"/>
                <a:ea typeface="Calibri" pitchFamily="34" charset="-122"/>
                <a:cs typeface="Calibri" pitchFamily="34" charset="-120"/>
              </a:rPr>
              <a:t>Right-sized for the problem; fewer moving parts to operate.</a:t>
            </a:r>
            <a:endParaRPr lang="en-US" sz="1050" dirty="0"/>
          </a:p>
        </p:txBody>
      </p:sp>
      <p:sp>
        <p:nvSpPr>
          <p:cNvPr id="14" name="Shape 12"/>
          <p:cNvSpPr/>
          <p:nvPr/>
        </p:nvSpPr>
        <p:spPr>
          <a:xfrm>
            <a:off x="502920" y="2532888"/>
            <a:ext cx="3931920" cy="896112"/>
          </a:xfrm>
          <a:prstGeom prst="roundRect">
            <a:avLst>
              <a:gd name="adj" fmla="val 9184"/>
            </a:avLst>
          </a:prstGeom>
          <a:solidFill>
            <a:srgbClr val="F1F5F9"/>
          </a:solidFill>
          <a:ln w="12700">
            <a:solidFill>
              <a:srgbClr val="E2E8F0"/>
            </a:solidFill>
            <a:prstDash val="solid"/>
          </a:ln>
        </p:spPr>
      </p:sp>
      <p:sp>
        <p:nvSpPr>
          <p:cNvPr id="15" name="Shape 13"/>
          <p:cNvSpPr/>
          <p:nvPr/>
        </p:nvSpPr>
        <p:spPr>
          <a:xfrm>
            <a:off x="667512" y="2788920"/>
            <a:ext cx="365760" cy="365760"/>
          </a:xfrm>
          <a:prstGeom prst="ellipse">
            <a:avLst/>
          </a:prstGeom>
          <a:solidFill>
            <a:srgbClr val="0D9488"/>
          </a:solidFill>
          <a:ln/>
        </p:spPr>
      </p:sp>
      <p:sp>
        <p:nvSpPr>
          <p:cNvPr id="16" name="Text 14"/>
          <p:cNvSpPr/>
          <p:nvPr/>
        </p:nvSpPr>
        <p:spPr>
          <a:xfrm>
            <a:off x="667512" y="2788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61288" y="2651760"/>
            <a:ext cx="3154680" cy="329184"/>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Honest metrics over vanity numbers</a:t>
            </a:r>
            <a:endParaRPr lang="en-US" sz="1350" dirty="0"/>
          </a:p>
        </p:txBody>
      </p:sp>
      <p:sp>
        <p:nvSpPr>
          <p:cNvPr id="18" name="Text 16"/>
          <p:cNvSpPr/>
          <p:nvPr/>
        </p:nvSpPr>
        <p:spPr>
          <a:xfrm>
            <a:off x="1161288" y="2971800"/>
            <a:ext cx="3154680" cy="384048"/>
          </a:xfrm>
          <a:prstGeom prst="rect">
            <a:avLst/>
          </a:prstGeom>
          <a:noFill/>
          <a:ln/>
        </p:spPr>
        <p:txBody>
          <a:bodyPr wrap="square" lIns="0" tIns="0" rIns="0" bIns="0" rtlCol="0" anchor="ctr"/>
          <a:lstStyle/>
          <a:p>
            <a:pPr indent="0" marL="0">
              <a:lnSpc>
                <a:spcPct val="100000"/>
              </a:lnSpc>
              <a:buNone/>
            </a:pPr>
            <a:r>
              <a:rPr lang="en-US" sz="1050" dirty="0">
                <a:solidFill>
                  <a:srgbClr val="334155"/>
                </a:solidFill>
                <a:latin typeface="Calibri" pitchFamily="34" charset="0"/>
                <a:ea typeface="Calibri" pitchFamily="34" charset="-122"/>
                <a:cs typeface="Calibri" pitchFamily="34" charset="-120"/>
              </a:rPr>
              <a:t>0.375 documented and explained, not hidden behind a curve.</a:t>
            </a:r>
            <a:endParaRPr lang="en-US" sz="1050" dirty="0"/>
          </a:p>
        </p:txBody>
      </p:sp>
      <p:sp>
        <p:nvSpPr>
          <p:cNvPr id="19" name="Shape 17"/>
          <p:cNvSpPr/>
          <p:nvPr/>
        </p:nvSpPr>
        <p:spPr>
          <a:xfrm>
            <a:off x="4663440" y="2532888"/>
            <a:ext cx="3931920" cy="896112"/>
          </a:xfrm>
          <a:prstGeom prst="roundRect">
            <a:avLst>
              <a:gd name="adj" fmla="val 9184"/>
            </a:avLst>
          </a:prstGeom>
          <a:solidFill>
            <a:srgbClr val="F1F5F9"/>
          </a:solidFill>
          <a:ln w="12700">
            <a:solidFill>
              <a:srgbClr val="E2E8F0"/>
            </a:solidFill>
            <a:prstDash val="solid"/>
          </a:ln>
        </p:spPr>
      </p:sp>
      <p:sp>
        <p:nvSpPr>
          <p:cNvPr id="20" name="Shape 18"/>
          <p:cNvSpPr/>
          <p:nvPr/>
        </p:nvSpPr>
        <p:spPr>
          <a:xfrm>
            <a:off x="4828032" y="2788920"/>
            <a:ext cx="365760" cy="365760"/>
          </a:xfrm>
          <a:prstGeom prst="ellipse">
            <a:avLst/>
          </a:prstGeom>
          <a:solidFill>
            <a:srgbClr val="0D9488"/>
          </a:solidFill>
          <a:ln/>
        </p:spPr>
      </p:sp>
      <p:sp>
        <p:nvSpPr>
          <p:cNvPr id="21" name="Text 19"/>
          <p:cNvSpPr/>
          <p:nvPr/>
        </p:nvSpPr>
        <p:spPr>
          <a:xfrm>
            <a:off x="4828032" y="2788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5321808" y="2651760"/>
            <a:ext cx="3154680" cy="329184"/>
          </a:xfrm>
          <a:prstGeom prst="rect">
            <a:avLst/>
          </a:prstGeom>
          <a:noFill/>
          <a:ln/>
        </p:spPr>
        <p:txBody>
          <a:bodyPr wrap="square" lIns="0" tIns="0" rIns="0" bIns="0" rtlCol="0" anchor="ctr"/>
          <a:lstStyle/>
          <a:p>
            <a:pPr indent="0" marL="0">
              <a:buNone/>
            </a:pPr>
            <a:r>
              <a:rPr lang="en-US" sz="1350" b="1" dirty="0">
                <a:solidFill>
                  <a:srgbClr val="0F172A"/>
                </a:solidFill>
                <a:latin typeface="Georgia" pitchFamily="34" charset="0"/>
                <a:ea typeface="Georgia" pitchFamily="34" charset="-122"/>
                <a:cs typeface="Georgia" pitchFamily="34" charset="-120"/>
              </a:rPr>
              <a:t>Resilient, free-data design</a:t>
            </a:r>
            <a:endParaRPr lang="en-US" sz="1350" dirty="0"/>
          </a:p>
        </p:txBody>
      </p:sp>
      <p:sp>
        <p:nvSpPr>
          <p:cNvPr id="23" name="Text 21"/>
          <p:cNvSpPr/>
          <p:nvPr/>
        </p:nvSpPr>
        <p:spPr>
          <a:xfrm>
            <a:off x="5321808" y="2971800"/>
            <a:ext cx="3154680" cy="384048"/>
          </a:xfrm>
          <a:prstGeom prst="rect">
            <a:avLst/>
          </a:prstGeom>
          <a:noFill/>
          <a:ln/>
        </p:spPr>
        <p:txBody>
          <a:bodyPr wrap="square" lIns="0" tIns="0" rIns="0" bIns="0" rtlCol="0" anchor="ctr"/>
          <a:lstStyle/>
          <a:p>
            <a:pPr indent="0" marL="0">
              <a:lnSpc>
                <a:spcPct val="100000"/>
              </a:lnSpc>
              <a:buNone/>
            </a:pPr>
            <a:r>
              <a:rPr lang="en-US" sz="1050" dirty="0">
                <a:solidFill>
                  <a:srgbClr val="334155"/>
                </a:solidFill>
                <a:latin typeface="Calibri" pitchFamily="34" charset="0"/>
                <a:ea typeface="Calibri" pitchFamily="34" charset="-122"/>
                <a:cs typeface="Calibri" pitchFamily="34" charset="-120"/>
              </a:rPr>
              <a:t>No paid single point of failure; log-and-skip everywhere.</a:t>
            </a:r>
            <a:endParaRPr lang="en-US" sz="1050" dirty="0"/>
          </a:p>
        </p:txBody>
      </p:sp>
      <p:sp>
        <p:nvSpPr>
          <p:cNvPr id="24" name="Text 22"/>
          <p:cNvSpPr/>
          <p:nvPr/>
        </p:nvSpPr>
        <p:spPr>
          <a:xfrm>
            <a:off x="502920" y="3749040"/>
            <a:ext cx="2743200" cy="274320"/>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STACK</a:t>
            </a:r>
            <a:endParaRPr lang="en-US" sz="1100" dirty="0"/>
          </a:p>
        </p:txBody>
      </p:sp>
      <p:sp>
        <p:nvSpPr>
          <p:cNvPr id="25" name="Shape 23"/>
          <p:cNvSpPr/>
          <p:nvPr/>
        </p:nvSpPr>
        <p:spPr>
          <a:xfrm>
            <a:off x="502920" y="4069080"/>
            <a:ext cx="881482" cy="310896"/>
          </a:xfrm>
          <a:prstGeom prst="roundRect">
            <a:avLst>
              <a:gd name="adj" fmla="val 50000"/>
            </a:avLst>
          </a:prstGeom>
          <a:solidFill>
            <a:srgbClr val="F1F5F9"/>
          </a:solidFill>
          <a:ln w="12700">
            <a:solidFill>
              <a:srgbClr val="E2E8F0"/>
            </a:solidFill>
            <a:prstDash val="solid"/>
          </a:ln>
        </p:spPr>
      </p:sp>
      <p:sp>
        <p:nvSpPr>
          <p:cNvPr id="26" name="Text 24"/>
          <p:cNvSpPr/>
          <p:nvPr/>
        </p:nvSpPr>
        <p:spPr>
          <a:xfrm>
            <a:off x="502920" y="4069080"/>
            <a:ext cx="881482"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Java 21</a:t>
            </a:r>
            <a:endParaRPr lang="en-US" sz="1050" dirty="0"/>
          </a:p>
        </p:txBody>
      </p:sp>
      <p:sp>
        <p:nvSpPr>
          <p:cNvPr id="27" name="Shape 25"/>
          <p:cNvSpPr/>
          <p:nvPr/>
        </p:nvSpPr>
        <p:spPr>
          <a:xfrm>
            <a:off x="1521562" y="4069080"/>
            <a:ext cx="1554480" cy="310896"/>
          </a:xfrm>
          <a:prstGeom prst="roundRect">
            <a:avLst>
              <a:gd name="adj" fmla="val 50000"/>
            </a:avLst>
          </a:prstGeom>
          <a:solidFill>
            <a:srgbClr val="F1F5F9"/>
          </a:solidFill>
          <a:ln w="12700">
            <a:solidFill>
              <a:srgbClr val="E2E8F0"/>
            </a:solidFill>
            <a:prstDash val="solid"/>
          </a:ln>
        </p:spPr>
      </p:sp>
      <p:sp>
        <p:nvSpPr>
          <p:cNvPr id="28" name="Text 26"/>
          <p:cNvSpPr/>
          <p:nvPr/>
        </p:nvSpPr>
        <p:spPr>
          <a:xfrm>
            <a:off x="1521562" y="4069080"/>
            <a:ext cx="1554480"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Spring Boot 3.4</a:t>
            </a:r>
            <a:endParaRPr lang="en-US" sz="1050" dirty="0"/>
          </a:p>
        </p:txBody>
      </p:sp>
      <p:sp>
        <p:nvSpPr>
          <p:cNvPr id="29" name="Shape 27"/>
          <p:cNvSpPr/>
          <p:nvPr/>
        </p:nvSpPr>
        <p:spPr>
          <a:xfrm>
            <a:off x="3213202" y="4069080"/>
            <a:ext cx="1049731" cy="310896"/>
          </a:xfrm>
          <a:prstGeom prst="roundRect">
            <a:avLst>
              <a:gd name="adj" fmla="val 50000"/>
            </a:avLst>
          </a:prstGeom>
          <a:solidFill>
            <a:srgbClr val="F1F5F9"/>
          </a:solidFill>
          <a:ln w="12700">
            <a:solidFill>
              <a:srgbClr val="E2E8F0"/>
            </a:solidFill>
            <a:prstDash val="solid"/>
          </a:ln>
        </p:spPr>
      </p:sp>
      <p:sp>
        <p:nvSpPr>
          <p:cNvPr id="30" name="Text 28"/>
          <p:cNvSpPr/>
          <p:nvPr/>
        </p:nvSpPr>
        <p:spPr>
          <a:xfrm>
            <a:off x="3213202" y="4069080"/>
            <a:ext cx="1049731"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Spring AI</a:t>
            </a:r>
            <a:endParaRPr lang="en-US" sz="1050" dirty="0"/>
          </a:p>
        </p:txBody>
      </p:sp>
      <p:sp>
        <p:nvSpPr>
          <p:cNvPr id="31" name="Shape 29"/>
          <p:cNvSpPr/>
          <p:nvPr/>
        </p:nvSpPr>
        <p:spPr>
          <a:xfrm>
            <a:off x="4400093" y="4069080"/>
            <a:ext cx="629107" cy="310896"/>
          </a:xfrm>
          <a:prstGeom prst="roundRect">
            <a:avLst>
              <a:gd name="adj" fmla="val 50000"/>
            </a:avLst>
          </a:prstGeom>
          <a:solidFill>
            <a:srgbClr val="F1F5F9"/>
          </a:solidFill>
          <a:ln w="12700">
            <a:solidFill>
              <a:srgbClr val="E2E8F0"/>
            </a:solidFill>
            <a:prstDash val="solid"/>
          </a:ln>
        </p:spPr>
      </p:sp>
      <p:sp>
        <p:nvSpPr>
          <p:cNvPr id="32" name="Text 30"/>
          <p:cNvSpPr/>
          <p:nvPr/>
        </p:nvSpPr>
        <p:spPr>
          <a:xfrm>
            <a:off x="4400093" y="4069080"/>
            <a:ext cx="629107"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ta4j</a:t>
            </a:r>
            <a:endParaRPr lang="en-US" sz="1050" dirty="0"/>
          </a:p>
        </p:txBody>
      </p:sp>
      <p:sp>
        <p:nvSpPr>
          <p:cNvPr id="33" name="Shape 31"/>
          <p:cNvSpPr/>
          <p:nvPr/>
        </p:nvSpPr>
        <p:spPr>
          <a:xfrm>
            <a:off x="5166360" y="4069080"/>
            <a:ext cx="1217981" cy="310896"/>
          </a:xfrm>
          <a:prstGeom prst="roundRect">
            <a:avLst>
              <a:gd name="adj" fmla="val 50000"/>
            </a:avLst>
          </a:prstGeom>
          <a:solidFill>
            <a:srgbClr val="F1F5F9"/>
          </a:solidFill>
          <a:ln w="12700">
            <a:solidFill>
              <a:srgbClr val="E2E8F0"/>
            </a:solidFill>
            <a:prstDash val="solid"/>
          </a:ln>
        </p:spPr>
      </p:sp>
      <p:sp>
        <p:nvSpPr>
          <p:cNvPr id="34" name="Text 32"/>
          <p:cNvSpPr/>
          <p:nvPr/>
        </p:nvSpPr>
        <p:spPr>
          <a:xfrm>
            <a:off x="5166360" y="4069080"/>
            <a:ext cx="1217981"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Python 3.11</a:t>
            </a:r>
            <a:endParaRPr lang="en-US" sz="1050" dirty="0"/>
          </a:p>
        </p:txBody>
      </p:sp>
      <p:sp>
        <p:nvSpPr>
          <p:cNvPr id="35" name="Shape 33"/>
          <p:cNvSpPr/>
          <p:nvPr/>
        </p:nvSpPr>
        <p:spPr>
          <a:xfrm>
            <a:off x="6521501" y="4069080"/>
            <a:ext cx="881482" cy="310896"/>
          </a:xfrm>
          <a:prstGeom prst="roundRect">
            <a:avLst>
              <a:gd name="adj" fmla="val 50000"/>
            </a:avLst>
          </a:prstGeom>
          <a:solidFill>
            <a:srgbClr val="F1F5F9"/>
          </a:solidFill>
          <a:ln w="12700">
            <a:solidFill>
              <a:srgbClr val="E2E8F0"/>
            </a:solidFill>
            <a:prstDash val="solid"/>
          </a:ln>
        </p:spPr>
      </p:sp>
      <p:sp>
        <p:nvSpPr>
          <p:cNvPr id="36" name="Text 34"/>
          <p:cNvSpPr/>
          <p:nvPr/>
        </p:nvSpPr>
        <p:spPr>
          <a:xfrm>
            <a:off x="6521501" y="4069080"/>
            <a:ext cx="881482"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XGBoost</a:t>
            </a:r>
            <a:endParaRPr lang="en-US" sz="1050" dirty="0"/>
          </a:p>
        </p:txBody>
      </p:sp>
      <p:sp>
        <p:nvSpPr>
          <p:cNvPr id="37" name="Shape 35"/>
          <p:cNvSpPr/>
          <p:nvPr/>
        </p:nvSpPr>
        <p:spPr>
          <a:xfrm>
            <a:off x="7540142" y="4069080"/>
            <a:ext cx="629107" cy="310896"/>
          </a:xfrm>
          <a:prstGeom prst="roundRect">
            <a:avLst>
              <a:gd name="adj" fmla="val 50000"/>
            </a:avLst>
          </a:prstGeom>
          <a:solidFill>
            <a:srgbClr val="F1F5F9"/>
          </a:solidFill>
          <a:ln w="12700">
            <a:solidFill>
              <a:srgbClr val="E2E8F0"/>
            </a:solidFill>
            <a:prstDash val="solid"/>
          </a:ln>
        </p:spPr>
      </p:sp>
      <p:sp>
        <p:nvSpPr>
          <p:cNvPr id="38" name="Text 36"/>
          <p:cNvSpPr/>
          <p:nvPr/>
        </p:nvSpPr>
        <p:spPr>
          <a:xfrm>
            <a:off x="7540142" y="4069080"/>
            <a:ext cx="629107"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SHAP</a:t>
            </a:r>
            <a:endParaRPr lang="en-US" sz="1050" dirty="0"/>
          </a:p>
        </p:txBody>
      </p:sp>
      <p:sp>
        <p:nvSpPr>
          <p:cNvPr id="39" name="Shape 37"/>
          <p:cNvSpPr/>
          <p:nvPr/>
        </p:nvSpPr>
        <p:spPr>
          <a:xfrm>
            <a:off x="502920" y="4489704"/>
            <a:ext cx="1133856" cy="310896"/>
          </a:xfrm>
          <a:prstGeom prst="roundRect">
            <a:avLst>
              <a:gd name="adj" fmla="val 50000"/>
            </a:avLst>
          </a:prstGeom>
          <a:solidFill>
            <a:srgbClr val="F1F5F9"/>
          </a:solidFill>
          <a:ln w="12700">
            <a:solidFill>
              <a:srgbClr val="E2E8F0"/>
            </a:solidFill>
            <a:prstDash val="solid"/>
          </a:ln>
        </p:spPr>
      </p:sp>
      <p:sp>
        <p:nvSpPr>
          <p:cNvPr id="40" name="Text 38"/>
          <p:cNvSpPr/>
          <p:nvPr/>
        </p:nvSpPr>
        <p:spPr>
          <a:xfrm>
            <a:off x="502920" y="4489704"/>
            <a:ext cx="1133856"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React + TS</a:t>
            </a:r>
            <a:endParaRPr lang="en-US" sz="1050" dirty="0"/>
          </a:p>
        </p:txBody>
      </p:sp>
      <p:sp>
        <p:nvSpPr>
          <p:cNvPr id="41" name="Shape 39"/>
          <p:cNvSpPr/>
          <p:nvPr/>
        </p:nvSpPr>
        <p:spPr>
          <a:xfrm>
            <a:off x="1773936" y="4489704"/>
            <a:ext cx="1217981" cy="310896"/>
          </a:xfrm>
          <a:prstGeom prst="roundRect">
            <a:avLst>
              <a:gd name="adj" fmla="val 50000"/>
            </a:avLst>
          </a:prstGeom>
          <a:solidFill>
            <a:srgbClr val="F1F5F9"/>
          </a:solidFill>
          <a:ln w="12700">
            <a:solidFill>
              <a:srgbClr val="E2E8F0"/>
            </a:solidFill>
            <a:prstDash val="solid"/>
          </a:ln>
        </p:spPr>
      </p:sp>
      <p:sp>
        <p:nvSpPr>
          <p:cNvPr id="42" name="Text 40"/>
          <p:cNvSpPr/>
          <p:nvPr/>
        </p:nvSpPr>
        <p:spPr>
          <a:xfrm>
            <a:off x="1773936" y="4489704"/>
            <a:ext cx="1217981"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Postgres 16</a:t>
            </a:r>
            <a:endParaRPr lang="en-US" sz="1050" dirty="0"/>
          </a:p>
        </p:txBody>
      </p:sp>
      <p:sp>
        <p:nvSpPr>
          <p:cNvPr id="43" name="Shape 41"/>
          <p:cNvSpPr/>
          <p:nvPr/>
        </p:nvSpPr>
        <p:spPr>
          <a:xfrm>
            <a:off x="3129077" y="4489704"/>
            <a:ext cx="965606" cy="310896"/>
          </a:xfrm>
          <a:prstGeom prst="roundRect">
            <a:avLst>
              <a:gd name="adj" fmla="val 50000"/>
            </a:avLst>
          </a:prstGeom>
          <a:solidFill>
            <a:srgbClr val="F1F5F9"/>
          </a:solidFill>
          <a:ln w="12700">
            <a:solidFill>
              <a:srgbClr val="E2E8F0"/>
            </a:solidFill>
            <a:prstDash val="solid"/>
          </a:ln>
        </p:spPr>
      </p:sp>
      <p:sp>
        <p:nvSpPr>
          <p:cNvPr id="44" name="Text 42"/>
          <p:cNvSpPr/>
          <p:nvPr/>
        </p:nvSpPr>
        <p:spPr>
          <a:xfrm>
            <a:off x="3129077" y="4489704"/>
            <a:ext cx="965606"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pgvector</a:t>
            </a:r>
            <a:endParaRPr lang="en-US" sz="1050" dirty="0"/>
          </a:p>
        </p:txBody>
      </p:sp>
      <p:sp>
        <p:nvSpPr>
          <p:cNvPr id="45" name="Shape 43"/>
          <p:cNvSpPr/>
          <p:nvPr/>
        </p:nvSpPr>
        <p:spPr>
          <a:xfrm>
            <a:off x="4231843" y="4489704"/>
            <a:ext cx="797357" cy="310896"/>
          </a:xfrm>
          <a:prstGeom prst="roundRect">
            <a:avLst>
              <a:gd name="adj" fmla="val 50000"/>
            </a:avLst>
          </a:prstGeom>
          <a:solidFill>
            <a:srgbClr val="F1F5F9"/>
          </a:solidFill>
          <a:ln w="12700">
            <a:solidFill>
              <a:srgbClr val="E2E8F0"/>
            </a:solidFill>
            <a:prstDash val="solid"/>
          </a:ln>
        </p:spPr>
      </p:sp>
      <p:sp>
        <p:nvSpPr>
          <p:cNvPr id="46" name="Text 44"/>
          <p:cNvSpPr/>
          <p:nvPr/>
        </p:nvSpPr>
        <p:spPr>
          <a:xfrm>
            <a:off x="4231843" y="4489704"/>
            <a:ext cx="797357" cy="310896"/>
          </a:xfrm>
          <a:prstGeom prst="rect">
            <a:avLst/>
          </a:prstGeom>
          <a:noFill/>
          <a:ln/>
        </p:spPr>
        <p:txBody>
          <a:bodyPr wrap="square" lIns="0" tIns="0" rIns="0" bIns="0" rtlCol="0" anchor="ctr"/>
          <a:lstStyle/>
          <a:p>
            <a:pPr algn="ctr" indent="0" marL="0">
              <a:buNone/>
            </a:pPr>
            <a:r>
              <a:rPr lang="en-US" sz="1050" dirty="0">
                <a:solidFill>
                  <a:srgbClr val="334155"/>
                </a:solidFill>
                <a:latin typeface="Consolas" pitchFamily="34" charset="0"/>
                <a:ea typeface="Consolas" pitchFamily="34" charset="-122"/>
                <a:cs typeface="Consolas" pitchFamily="34" charset="-120"/>
              </a:rPr>
              <a:t>Docker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14400" y="3474720"/>
            <a:ext cx="2926080" cy="2926080"/>
          </a:xfrm>
          <a:prstGeom prst="ellipse">
            <a:avLst/>
          </a:prstGeom>
          <a:solidFill>
            <a:srgbClr val="1E293B"/>
          </a:solidFill>
          <a:ln/>
        </p:spPr>
      </p:sp>
      <p:sp>
        <p:nvSpPr>
          <p:cNvPr id="3" name="Shape 1"/>
          <p:cNvSpPr/>
          <p:nvPr/>
        </p:nvSpPr>
        <p:spPr>
          <a:xfrm>
            <a:off x="7863840" y="-914400"/>
            <a:ext cx="2743200" cy="2743200"/>
          </a:xfrm>
          <a:prstGeom prst="ellipse">
            <a:avLst/>
          </a:prstGeom>
          <a:solidFill>
            <a:srgbClr val="1E293B"/>
          </a:solidFill>
          <a:ln/>
        </p:spPr>
      </p:sp>
      <p:sp>
        <p:nvSpPr>
          <p:cNvPr id="4" name="Text 2"/>
          <p:cNvSpPr/>
          <p:nvPr/>
        </p:nvSpPr>
        <p:spPr>
          <a:xfrm>
            <a:off x="640080" y="1554480"/>
            <a:ext cx="7863840" cy="91440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Thank you</a:t>
            </a:r>
            <a:endParaRPr lang="en-US" sz="4600" dirty="0"/>
          </a:p>
        </p:txBody>
      </p:sp>
      <p:sp>
        <p:nvSpPr>
          <p:cNvPr id="5" name="Text 3"/>
          <p:cNvSpPr/>
          <p:nvPr/>
        </p:nvSpPr>
        <p:spPr>
          <a:xfrm>
            <a:off x="658368" y="2468880"/>
            <a:ext cx="7863840" cy="457200"/>
          </a:xfrm>
          <a:prstGeom prst="rect">
            <a:avLst/>
          </a:prstGeom>
          <a:noFill/>
          <a:ln/>
        </p:spPr>
        <p:txBody>
          <a:bodyPr wrap="square" lIns="0" tIns="0" rIns="0" bIns="0" rtlCol="0" anchor="ctr"/>
          <a:lstStyle/>
          <a:p>
            <a:pPr indent="0" marL="0">
              <a:buNone/>
            </a:pPr>
            <a:r>
              <a:rPr lang="en-US" sz="2000" i="1" dirty="0">
                <a:solidFill>
                  <a:srgbClr val="2DD4BF"/>
                </a:solidFill>
                <a:latin typeface="Georgia" pitchFamily="34" charset="0"/>
                <a:ea typeface="Georgia" pitchFamily="34" charset="-122"/>
                <a:cs typeface="Georgia" pitchFamily="34" charset="-120"/>
              </a:rPr>
              <a:t>Explainable.   Resilient.   Paper-only.</a:t>
            </a:r>
            <a:endParaRPr lang="en-US" sz="2000" dirty="0"/>
          </a:p>
        </p:txBody>
      </p:sp>
      <p:sp>
        <p:nvSpPr>
          <p:cNvPr id="6" name="Text 4"/>
          <p:cNvSpPr/>
          <p:nvPr/>
        </p:nvSpPr>
        <p:spPr>
          <a:xfrm>
            <a:off x="658368" y="3291840"/>
            <a:ext cx="7863840" cy="365760"/>
          </a:xfrm>
          <a:prstGeom prst="rect">
            <a:avLst/>
          </a:prstGeom>
          <a:noFill/>
          <a:ln/>
        </p:spPr>
        <p:txBody>
          <a:bodyPr wrap="square" lIns="0" tIns="0" rIns="0" bIns="0" rtlCol="0" anchor="ctr"/>
          <a:lstStyle/>
          <a:p>
            <a:pPr indent="0" marL="0">
              <a:buNone/>
            </a:pPr>
            <a:r>
              <a:rPr lang="en-US" sz="1400" dirty="0">
                <a:solidFill>
                  <a:srgbClr val="94A3B8"/>
                </a:solidFill>
              </a:rPr>
              <a:t>Code:  </a:t>
            </a:r>
            <a:pPr indent="0" marL="0">
              <a:buNone/>
            </a:pPr>
            <a:r>
              <a:rPr lang="en-US" sz="1400" b="1" dirty="0">
                <a:solidFill>
                  <a:srgbClr val="FFFFFF"/>
                </a:solidFill>
                <a:latin typeface="Consolas" pitchFamily="34" charset="0"/>
                <a:ea typeface="Consolas" pitchFamily="34" charset="-122"/>
                <a:cs typeface="Consolas" pitchFamily="34" charset="-120"/>
              </a:rPr>
              <a:t>github.com/hzajkani/cryptocopilot</a:t>
            </a:r>
            <a:endParaRPr lang="en-US" sz="1400" dirty="0"/>
          </a:p>
        </p:txBody>
      </p:sp>
      <p:sp>
        <p:nvSpPr>
          <p:cNvPr id="7" name="Text 5"/>
          <p:cNvSpPr/>
          <p:nvPr/>
        </p:nvSpPr>
        <p:spPr>
          <a:xfrm>
            <a:off x="658368" y="3703320"/>
            <a:ext cx="7863840"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Kamran Zajkani  ·  Backend &amp; ML Engineer  ·  Köln, NRW</a:t>
            </a:r>
            <a:endParaRPr lang="en-US" sz="1300" dirty="0"/>
          </a:p>
        </p:txBody>
      </p:sp>
      <p:sp>
        <p:nvSpPr>
          <p:cNvPr id="8" name="Text 6"/>
          <p:cNvSpPr/>
          <p:nvPr/>
        </p:nvSpPr>
        <p:spPr>
          <a:xfrm>
            <a:off x="658368" y="4343400"/>
            <a:ext cx="786384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Decision-support, not financial advice.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CryptoCopilot — Polyglot Edition</dc:title>
  <dc:subject>PptxGenJS Presentation</dc:subject>
  <dc:creator>Kamran Zajkani</dc:creator>
  <cp:lastModifiedBy>Kamran Zajkani</cp:lastModifiedBy>
  <cp:revision>1</cp:revision>
  <dcterms:created xsi:type="dcterms:W3CDTF">2026-06-03T18:00:15Z</dcterms:created>
  <dcterms:modified xsi:type="dcterms:W3CDTF">2026-06-03T18:00:15Z</dcterms:modified>
</cp:coreProperties>
</file>