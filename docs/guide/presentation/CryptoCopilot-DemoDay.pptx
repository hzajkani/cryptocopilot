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1554480"/>
            <a:ext cx="1371600" cy="1371600"/>
          </a:xfrm>
          <a:prstGeom prst="roundRect">
            <a:avLst>
              <a:gd name="adj" fmla="val 22000"/>
            </a:avLst>
          </a:prstGeom>
          <a:solidFill>
            <a:srgbClr val="14213A"/>
          </a:solidFill>
          <a:ln w="254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400" b="1">
                <a:solidFill>
                  <a:srgbClr val="2DD4BF"/>
                </a:solidFill>
                <a:latin typeface="Calibr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600200"/>
            <a:ext cx="914400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200" b="1">
                <a:solidFill>
                  <a:srgbClr val="ECF1F8"/>
                </a:solidFill>
                <a:latin typeface="Calibri"/>
              </a:rPr>
              <a:t>CryptoCopilot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87168" y="2788920"/>
            <a:ext cx="9144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An intelligent assistant for the world of crypto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9AA8BD"/>
                </a:solidFill>
                <a:latin typeface="Calibri"/>
              </a:rPr>
              <a:t>ML direction signals  ·  technical analysis  ·  cited AI chat  ·  safe paper trading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98848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9AA8BD"/>
                </a:solidFill>
                <a:latin typeface="Calibri"/>
              </a:rPr>
              <a:t>Presented by  </a:t>
            </a:r>
            <a:r>
              <a:rPr sz="1600" b="1">
                <a:solidFill>
                  <a:srgbClr val="2DD4BF"/>
                </a:solidFill>
                <a:latin typeface="Calibri"/>
              </a:rPr>
              <a:t>Kamran Zajkani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12064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CF1F8"/>
                </a:solidFill>
                <a:latin typeface="Calibri"/>
              </a:rPr>
              <a:t>Demo Day · June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5120640"/>
            <a:ext cx="4206240" cy="457200"/>
          </a:xfrm>
          <a:prstGeom prst="roundRect">
            <a:avLst>
              <a:gd name="adj" fmla="val 10000"/>
            </a:avLst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AA8BD"/>
                </a:solidFill>
                <a:latin typeface="Calibri"/>
              </a:rPr>
              <a:t>Decision-support, not financial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6748A"/>
                </a:solidFill>
                <a:latin typeface="Calibri"/>
              </a:rPr>
              <a:t>A polyglot system: Python (data + ML) · Java/Spring Boot · React — five containers, one shared database.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57200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WHY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CF1F8"/>
                </a:solidFill>
                <a:latin typeface="Calibri"/>
              </a:rPr>
              <a:t>Money, Control — and a Different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257800" cy="338328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14300" bIns="10160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F2A65A"/>
                </a:solidFill>
                <a:latin typeface="Calibri"/>
              </a:rPr>
              <a:t>Traditional money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50" b="0">
                <a:solidFill>
                  <a:srgbClr val="ECF1F8"/>
                </a:solidFill>
                <a:latin typeface="Calibri"/>
              </a:rPr>
              <a:t>🏦  Controlled by central banks — central control.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50" b="0">
                <a:solidFill>
                  <a:srgbClr val="ECF1F8"/>
                </a:solidFill>
                <a:latin typeface="Calibri"/>
              </a:rPr>
              <a:t>💸  You pay fees to hold and move your own money.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50" b="0">
                <a:solidFill>
                  <a:srgbClr val="ECF1F8"/>
                </a:solidFill>
                <a:latin typeface="Calibri"/>
              </a:rPr>
              <a:t>🔒  Someone else is always in charge of your account.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874519"/>
            <a:ext cx="5577840" cy="338328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14300" bIns="10160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2DD4BF"/>
                </a:solidFill>
                <a:latin typeface="Calibri"/>
              </a:rPr>
              <a:t>Cryptocurrency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50" b="0">
                <a:solidFill>
                  <a:srgbClr val="ECF1F8"/>
                </a:solidFill>
                <a:latin typeface="Calibri"/>
              </a:rPr>
              <a:t>🌐  Decentralized — no central authority in control.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50" b="0">
                <a:solidFill>
                  <a:srgbClr val="ECF1F8"/>
                </a:solidFill>
                <a:latin typeface="Calibri"/>
              </a:rPr>
              <a:t>🔑  You hold your own money, directly.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50" b="0">
                <a:solidFill>
                  <a:srgbClr val="34D399"/>
                </a:solidFill>
                <a:latin typeface="Calibri"/>
              </a:rPr>
              <a:t>➕  Pros: open, global, fewer gatekeepers.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50" b="0">
                <a:solidFill>
                  <a:srgbClr val="F2A65A"/>
                </a:solidFill>
                <a:latin typeface="Calibri"/>
              </a:rPr>
              <a:t>➖  Cons: complex, volatile, confusing for newcomers.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32120"/>
            <a:ext cx="11064240" cy="841248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CF1F8"/>
                </a:solidFill>
                <a:latin typeface="Calibri"/>
              </a:rPr>
              <a:t>CryptoCopilot helps newcomers: it turns scattered market data + news into clear information and signals about coins.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24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Decision-support, not financial advice · Paper trading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57200" cy="109728"/>
          </a:xfrm>
          <a:prstGeom prst="rect">
            <a:avLst/>
          </a:prstGeom>
          <a:solidFill>
            <a:srgbClr val="5B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5B9DF9"/>
                </a:solidFill>
                <a:latin typeface="Calibri"/>
              </a:rPr>
              <a:t>HOW IT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CF1F8"/>
                </a:solidFill>
                <a:latin typeface="Calibri"/>
              </a:rPr>
              <a:t>One System, Two Languages, Five Containers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783080"/>
            <a:ext cx="3520440" cy="749808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14300" bIns="10160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38BDF8"/>
                </a:solidFill>
                <a:latin typeface="Calibri"/>
              </a:rPr>
              <a:t>frontend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ECF1F8"/>
                </a:solidFill>
                <a:latin typeface="Calibri"/>
              </a:rPr>
              <a:t>React + nginx — the browser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852928"/>
            <a:ext cx="4343400" cy="1078992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14300" bIns="10160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2A65A"/>
                </a:solidFill>
                <a:latin typeface="Calibri"/>
              </a:rPr>
              <a:t>backend — Spring Boot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ECF1F8"/>
                </a:solidFill>
                <a:latin typeface="Calibri"/>
              </a:rPr>
              <a:t>Modular monolith:  ta4j · Spring AI · trading · analyst ·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5262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14300" bIns="10160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db — Postgres 16 + pgvector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ECF1F8"/>
                </a:solidFill>
                <a:latin typeface="Calibri"/>
              </a:rPr>
              <a:t>The single shared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80560"/>
            <a:ext cx="3246120" cy="100584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5875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14300" bIns="10160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5B9DF9"/>
                </a:solidFill>
                <a:latin typeface="Calibri"/>
              </a:rPr>
              <a:t>ml — Python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ECF1F8"/>
                </a:solidFill>
                <a:latin typeface="Calibri"/>
              </a:rPr>
              <a:t>Batch worker: ingestion · XGBoost · SHAP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2852928"/>
            <a:ext cx="3154680" cy="1078992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5875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14300" bIns="10160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5B9DF9"/>
                </a:solidFill>
                <a:latin typeface="Calibri"/>
              </a:rPr>
              <a:t>ml-api — Python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ECF1F8"/>
                </a:solidFill>
                <a:latin typeface="Calibri"/>
              </a:rPr>
              <a:t>FastAPI: on-demand ingest / train / predict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3620" y="2532888"/>
            <a:ext cx="0" cy="320040"/>
          </a:xfrm>
          <a:prstGeom prst="line">
            <a:avLst/>
          </a:prstGeom>
          <a:ln w="22225">
            <a:solidFill>
              <a:srgbClr val="38BD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95059" y="254203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9AA8BD"/>
                </a:solidFill>
                <a:latin typeface="Calibri"/>
              </a:rPr>
              <a:t>REST / JSON (same origin)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03620" y="3931920"/>
            <a:ext cx="0" cy="594360"/>
          </a:xfrm>
          <a:prstGeom prst="line">
            <a:avLst/>
          </a:prstGeom>
          <a:ln w="22225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95059" y="4114800"/>
            <a:ext cx="31089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9AA8BD"/>
                </a:solidFill>
                <a:latin typeface="Calibri"/>
              </a:rPr>
              <a:t>JDBC — reads ml's tables; writes orders + vectors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49039" y="4983480"/>
            <a:ext cx="594361" cy="0"/>
          </a:xfrm>
          <a:prstGeom prst="line">
            <a:avLst/>
          </a:prstGeom>
          <a:ln w="22225">
            <a:solidFill>
              <a:srgbClr val="5B9DF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5541264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9AA8BD"/>
                </a:solidFill>
                <a:latin typeface="Calibri"/>
              </a:rPr>
              <a:t>writes predictions + raw data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8275320" y="3392424"/>
            <a:ext cx="457200" cy="0"/>
          </a:xfrm>
          <a:prstGeom prst="line">
            <a:avLst/>
          </a:prstGeom>
          <a:ln w="22225">
            <a:solidFill>
              <a:srgbClr val="5B9DF9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60920" y="2542032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9AA8BD"/>
                </a:solidFill>
                <a:latin typeface="Calibri"/>
              </a:rPr>
              <a:t>HTTP  /api/ml/*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818120" y="3931920"/>
            <a:ext cx="2148840" cy="960120"/>
          </a:xfrm>
          <a:prstGeom prst="line">
            <a:avLst/>
          </a:prstGeom>
          <a:ln w="22225">
            <a:solidFill>
              <a:srgbClr val="5B9DF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5943600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The database is the polyglot boundary:  Python writes  →  Java reads.   No RPC, no shared model files.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24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83680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Decision-support, not financial advice · Paper trading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8368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57200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THE FUEL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CF1F8"/>
                </a:solidFill>
                <a:latin typeface="Calibri"/>
              </a:rPr>
              <a:t>Real Data: 10 Coins, 5 Free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CF1F8"/>
                </a:solidFill>
                <a:latin typeface="Calibri"/>
              </a:rPr>
              <a:t>BTC · ETH · SOL · BNB · XRP · ADA · AVAX · DOT · LINK · MATIC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2032"/>
            <a:ext cx="5486400" cy="278892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5875">
            <a:solidFill>
              <a:srgbClr val="5B9D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14300" bIns="10160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5B9DF9"/>
                </a:solidFill>
                <a:latin typeface="Calibri"/>
              </a:rPr>
              <a:t>Where it comes from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0">
                <a:solidFill>
                  <a:srgbClr val="ECF1F8"/>
                </a:solidFill>
                <a:latin typeface="Calibri"/>
              </a:rPr>
              <a:t>📈  Binance — price candles (1h / 4h / 1d, ~2 years)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0">
                <a:solidFill>
                  <a:srgbClr val="ECF1F8"/>
                </a:solidFill>
                <a:latin typeface="Calibri"/>
              </a:rPr>
              <a:t>🦎  CoinGecko — market cap, supply, community &amp; dev data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0">
                <a:solidFill>
                  <a:srgbClr val="ECF1F8"/>
                </a:solidFill>
                <a:latin typeface="Calibri"/>
              </a:rPr>
              <a:t>📰  RSS ×5 — CoinDesk, Cointelegraph, Decrypt, The Block…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0">
                <a:solidFill>
                  <a:srgbClr val="ECF1F8"/>
                </a:solidFill>
                <a:latin typeface="Calibri"/>
              </a:rPr>
              <a:t>⛓️  Blockchain.com + Etherscan — on-chain activity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0">
                <a:solidFill>
                  <a:srgbClr val="ECF1F8"/>
                </a:solidFill>
                <a:latin typeface="Calibri"/>
              </a:rPr>
              <a:t>📚  Curated knowledge base — how each coin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42032"/>
            <a:ext cx="5349240" cy="278892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14300" bIns="10160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2DD4BF"/>
                </a:solidFill>
                <a:latin typeface="Calibri"/>
              </a:rPr>
              <a:t>How we treat it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0">
                <a:solidFill>
                  <a:srgbClr val="ECF1F8"/>
                </a:solidFill>
                <a:latin typeface="Calibri"/>
              </a:rPr>
              <a:t>🗃️  ~231,000 rows loaded into one Postgres database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0">
                <a:solidFill>
                  <a:srgbClr val="ECF1F8"/>
                </a:solidFill>
                <a:latin typeface="Calibri"/>
              </a:rPr>
              <a:t>🛡️  Multi-source by design — no single point of failure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0">
                <a:solidFill>
                  <a:srgbClr val="ECF1F8"/>
                </a:solidFill>
                <a:latin typeface="Calibri"/>
              </a:rPr>
              <a:t>🔁  If any source fails: log and skip, never crash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0">
                <a:solidFill>
                  <a:srgbClr val="ECF1F8"/>
                </a:solidFill>
                <a:latin typeface="Calibri"/>
              </a:rPr>
              <a:t>👤  One writer per table — clean, auditable data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250" b="0">
                <a:solidFill>
                  <a:srgbClr val="34D399"/>
                </a:solidFill>
                <a:latin typeface="Calibri"/>
              </a:rPr>
              <a:t>💶  All sources are public and free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24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Decision-support, not financial advice · Paper trading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57200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THE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CF1F8"/>
                </a:solidFill>
                <a:latin typeface="Calibri"/>
              </a:rPr>
              <a:t>An Honest Edge, Not a Crystal Ball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673352" cy="566928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5B9DF9"/>
                </a:solidFill>
                <a:latin typeface="Calibri"/>
              </a:rPr>
              <a:t>Raw candles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21992" y="2066543"/>
            <a:ext cx="164592" cy="0"/>
          </a:xfrm>
          <a:prstGeom prst="line">
            <a:avLst/>
          </a:prstGeom>
          <a:ln w="17780">
            <a:solidFill>
              <a:srgbClr val="66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86584" y="1783080"/>
            <a:ext cx="1673352" cy="566928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5B9DF9"/>
                </a:solidFill>
                <a:latin typeface="Calibri"/>
              </a:rPr>
              <a:t>46 features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59936" y="2066543"/>
            <a:ext cx="164592" cy="0"/>
          </a:xfrm>
          <a:prstGeom prst="line">
            <a:avLst/>
          </a:prstGeom>
          <a:ln w="17780">
            <a:solidFill>
              <a:srgbClr val="66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24528" y="1783080"/>
            <a:ext cx="1673352" cy="566928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A78BFA"/>
                </a:solidFill>
                <a:latin typeface="Calibri"/>
              </a:rPr>
              <a:t>XGBoost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2066543"/>
            <a:ext cx="164592" cy="0"/>
          </a:xfrm>
          <a:prstGeom prst="line">
            <a:avLst/>
          </a:prstGeom>
          <a:ln w="17780">
            <a:solidFill>
              <a:srgbClr val="66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62472" y="1783080"/>
            <a:ext cx="1673352" cy="566928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Calibration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35824" y="2066543"/>
            <a:ext cx="164592" cy="0"/>
          </a:xfrm>
          <a:prstGeom prst="line">
            <a:avLst/>
          </a:prstGeom>
          <a:ln w="17780">
            <a:solidFill>
              <a:srgbClr val="66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00416" y="1783080"/>
            <a:ext cx="1673352" cy="566928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SHAP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73768" y="2066543"/>
            <a:ext cx="164592" cy="0"/>
          </a:xfrm>
          <a:prstGeom prst="line">
            <a:avLst/>
          </a:prstGeom>
          <a:ln w="17780">
            <a:solidFill>
              <a:srgbClr val="66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38360" y="1783080"/>
            <a:ext cx="1673352" cy="566928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34D399"/>
                </a:solidFill>
                <a:latin typeface="Calibri"/>
              </a:rPr>
              <a:t>Probabilities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697480"/>
            <a:ext cx="6035040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▸  </a:t>
            </a:r>
            <a:r>
              <a:rPr sz="1400" b="0">
                <a:solidFill>
                  <a:srgbClr val="ECF1F8"/>
                </a:solidFill>
                <a:latin typeface="Calibri"/>
              </a:rPr>
              <a:t>Predicts UP / FLAT / DOWN over the next 24 hours (a ±2% move).</a:t>
            </a: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▸  </a:t>
            </a:r>
            <a:r>
              <a:rPr sz="1400" b="0">
                <a:solidFill>
                  <a:srgbClr val="ECF1F8"/>
                </a:solidFill>
                <a:latin typeface="Calibri"/>
              </a:rPr>
              <a:t>ROC-AUC = 0.578 — a small but real edge above luck (0.5 = a coin flip).</a:t>
            </a: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▸  </a:t>
            </a:r>
            <a:r>
              <a:rPr sz="1400" b="0">
                <a:solidFill>
                  <a:srgbClr val="ECF1F8"/>
                </a:solidFill>
                <a:latin typeface="Calibri"/>
              </a:rPr>
              <a:t>Calibrated probabilities: “70%” really means about 70%.</a:t>
            </a: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▸  </a:t>
            </a:r>
            <a:r>
              <a:rPr sz="1400" b="0">
                <a:solidFill>
                  <a:srgbClr val="ECF1F8"/>
                </a:solidFill>
                <a:latin typeface="Calibri"/>
              </a:rPr>
              <a:t>SHAP explains the top-3 reasons behind every single prediction.</a:t>
            </a: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▸  </a:t>
            </a:r>
            <a:r>
              <a:rPr sz="1400" b="0">
                <a:solidFill>
                  <a:srgbClr val="ECF1F8"/>
                </a:solidFill>
                <a:latin typeface="Calibri"/>
              </a:rPr>
              <a:t>Trained on ~2 years of history — the score is reported honestly.</a:t>
            </a:r>
          </a:p>
        </p:txBody>
      </p:sp>
      <p:pic>
        <p:nvPicPr>
          <p:cNvPr id="17" name="Picture 16" descr="Screenshot 2026-06-06 at 11.42.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7066" y="2651760"/>
            <a:ext cx="2836746" cy="3291840"/>
          </a:xfrm>
          <a:prstGeom prst="rect">
            <a:avLst/>
          </a:prstGeom>
          <a:ln w="12700">
            <a:solidFill>
              <a:srgbClr val="2A3A55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24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83680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Decision-support, not financial advice · Paper trading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8368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57200" cy="109728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F2A65A"/>
                </a:solidFill>
                <a:latin typeface="Calibri"/>
              </a:rPr>
              <a:t>TECHNICAL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CF1F8"/>
                </a:solidFill>
                <a:latin typeface="Calibri"/>
              </a:rPr>
              <a:t>Chart Signals You Can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576072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▸  </a:t>
            </a:r>
            <a:r>
              <a:rPr sz="1400" b="0">
                <a:solidFill>
                  <a:srgbClr val="ECF1F8"/>
                </a:solidFill>
                <a:latin typeface="Calibri"/>
              </a:rPr>
              <a:t>Computed in Java with ta4j, straight from the price candles.</a:t>
            </a: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▸  </a:t>
            </a:r>
            <a:r>
              <a:rPr sz="1400" b="0">
                <a:solidFill>
                  <a:srgbClr val="ECF1F8"/>
                </a:solidFill>
                <a:latin typeface="Calibri"/>
              </a:rPr>
              <a:t>Indicators: Ichimoku · RSI · MACD · Bollinger · ATR.</a:t>
            </a: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▸  </a:t>
            </a:r>
            <a:r>
              <a:rPr sz="1400" b="0">
                <a:solidFill>
                  <a:srgbClr val="ECF1F8"/>
                </a:solidFill>
                <a:latin typeface="Calibri"/>
              </a:rPr>
              <a:t>Deterministic rules → BULLISH / NEUTRAL / BEARISH + a confidence.</a:t>
            </a: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▸  </a:t>
            </a:r>
            <a:r>
              <a:rPr sz="1400" b="0">
                <a:solidFill>
                  <a:srgbClr val="ECF1F8"/>
                </a:solidFill>
                <a:latin typeface="Calibri"/>
              </a:rPr>
              <a:t>It shows the exact rules that fired — fully transparent.</a:t>
            </a: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▸  </a:t>
            </a:r>
            <a:r>
              <a:rPr sz="1400" b="0">
                <a:solidFill>
                  <a:srgbClr val="ECF1F8"/>
                </a:solidFill>
                <a:latin typeface="Calibri"/>
              </a:rPr>
              <a:t>Independent of the ML model — a real second opinion.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212080"/>
            <a:ext cx="5760720" cy="640080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Backend = one modular monolith (Spring Boot), not microservices.</a:t>
            </a:r>
          </a:p>
        </p:txBody>
      </p:sp>
      <p:pic>
        <p:nvPicPr>
          <p:cNvPr id="7" name="Picture 6" descr="Screenshot 2026-06-06 at 11.39.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480" y="1783080"/>
            <a:ext cx="2885599" cy="4206240"/>
          </a:xfrm>
          <a:prstGeom prst="rect">
            <a:avLst/>
          </a:prstGeom>
          <a:ln w="12700">
            <a:solidFill>
              <a:srgbClr val="2A3A55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24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Decision-support, not financial advice · Paper trading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57200" cy="1097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THE RESEARCHER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CF1F8"/>
                </a:solidFill>
                <a:latin typeface="Calibri"/>
              </a:rPr>
              <a:t>AI Chat That Cites Its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5943600" cy="3383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Embeddings turn text into numbers that capture meaning.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pgvector stores them inside the same Postgres database.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RAG = retrieve real sources, then answer using only them.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Every answer is cited [1][2]; it refuses if the answer isn’t there.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Never gives trading advice — by design.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34D399"/>
                </a:solidFill>
                <a:latin typeface="Calibri"/>
              </a:rPr>
              <a:t>recall@8 = 0.90 · 100% of answers cited.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5486400"/>
            <a:ext cx="5943600" cy="713232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Runs free &amp; local (Ollama llama3.2:3b) — or switch to OpenAI gpt-4o-mini with one click.</a:t>
            </a:r>
          </a:p>
        </p:txBody>
      </p:sp>
      <p:pic>
        <p:nvPicPr>
          <p:cNvPr id="7" name="Picture 6" descr="Screenshot 2026-06-06 at 11.42.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060308"/>
            <a:ext cx="4937760" cy="3651782"/>
          </a:xfrm>
          <a:prstGeom prst="rect">
            <a:avLst/>
          </a:prstGeom>
          <a:ln w="12700">
            <a:solidFill>
              <a:srgbClr val="2A3A55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24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Decision-support, not financial advice · Paper trading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57200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CF1F8"/>
                </a:solidFill>
                <a:latin typeface="Calibri"/>
              </a:rPr>
              <a:t>Four Views → One Clear Opinion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0512"/>
            <a:ext cx="1371600" cy="566928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🤖  ML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9968" y="1810512"/>
            <a:ext cx="1371600" cy="566928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2A65A"/>
                </a:solidFill>
                <a:latin typeface="Calibri"/>
              </a:rPr>
              <a:t>📊  Technical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11296" y="1810512"/>
            <a:ext cx="1371600" cy="566928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5B9DF9"/>
                </a:solidFill>
                <a:latin typeface="Calibri"/>
              </a:rPr>
              <a:t>🏥  Fundamentals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92624" y="1810512"/>
            <a:ext cx="1371600" cy="566928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📰  News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395728"/>
            <a:ext cx="0" cy="347472"/>
          </a:xfrm>
          <a:prstGeom prst="line">
            <a:avLst/>
          </a:prstGeom>
          <a:ln w="25400">
            <a:solidFill>
              <a:srgbClr val="2DD4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788920"/>
            <a:ext cx="5715000" cy="640080"/>
          </a:xfrm>
          <a:prstGeom prst="roundRect">
            <a:avLst>
              <a:gd name="adj" fmla="val 10000"/>
            </a:avLst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Analyst  →  Direction · Conviction · 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57600"/>
            <a:ext cx="5760720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▸  </a:t>
            </a:r>
            <a:r>
              <a:rPr sz="1300" b="0">
                <a:solidFill>
                  <a:srgbClr val="ECF1F8"/>
                </a:solidFill>
                <a:latin typeface="Calibri"/>
              </a:rPr>
              <a:t>A simple, deterministic score from −2…+2 per view.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▸  </a:t>
            </a:r>
            <a:r>
              <a:rPr sz="1300" b="0">
                <a:solidFill>
                  <a:srgbClr val="ECF1F8"/>
                </a:solidFill>
                <a:latin typeface="Calibri"/>
              </a:rPr>
              <a:t>Same inputs always give the same verdict — auditable.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▸  </a:t>
            </a:r>
            <a:r>
              <a:rPr sz="1300" b="0">
                <a:solidFill>
                  <a:srgbClr val="ECF1F8"/>
                </a:solidFill>
                <a:latin typeface="Calibri"/>
              </a:rPr>
              <a:t>A hallucination guard keeps the summary truthful.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▸  </a:t>
            </a:r>
            <a:r>
              <a:rPr sz="1300" b="0">
                <a:solidFill>
                  <a:srgbClr val="ECF1F8"/>
                </a:solidFill>
                <a:latin typeface="Calibri"/>
              </a:rPr>
              <a:t>Works even with the AI switched off (plain template).</a:t>
            </a:r>
          </a:p>
        </p:txBody>
      </p:sp>
      <p:pic>
        <p:nvPicPr>
          <p:cNvPr id="12" name="Picture 11" descr="Screenshot 2026-06-06 at 11.42.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26495"/>
            <a:ext cx="5029200" cy="3719408"/>
          </a:xfrm>
          <a:prstGeom prst="rect">
            <a:avLst/>
          </a:prstGeom>
          <a:ln w="12700">
            <a:solidFill>
              <a:srgbClr val="2A3A55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24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83680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Decision-support, not financial advice · Paper trading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8368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57200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ACTING ON IT —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CF1F8"/>
                </a:solidFill>
                <a:latin typeface="Calibri"/>
              </a:rPr>
              <a:t>Practice Trading, No Real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457200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Paper trading = real mechanics, fake money.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Long-only; realistic fills with slippage + a 0.1% fee.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Market &amp; limit orders; positions, trades, account tracked.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Performance: equity curve + Sharpe, Sortino, drawdown.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Honest backtest result — the engine is correct, not magic.</a:t>
            </a:r>
          </a:p>
        </p:txBody>
      </p:sp>
      <p:pic>
        <p:nvPicPr>
          <p:cNvPr id="6" name="Picture 5" descr="Screenshot 2026-06-06 at 11.43.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369919"/>
            <a:ext cx="3246120" cy="2758241"/>
          </a:xfrm>
          <a:prstGeom prst="rect">
            <a:avLst/>
          </a:prstGeom>
          <a:ln w="12700">
            <a:solidFill>
              <a:srgbClr val="2A3A55"/>
            </a:solidFill>
          </a:ln>
        </p:spPr>
      </p:pic>
      <p:pic>
        <p:nvPicPr>
          <p:cNvPr id="7" name="Picture 6" descr="Screenshot 2026-06-06 at 11.43.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954390"/>
            <a:ext cx="3017520" cy="1589298"/>
          </a:xfrm>
          <a:prstGeom prst="rect">
            <a:avLst/>
          </a:prstGeom>
          <a:ln w="12700">
            <a:solidFill>
              <a:srgbClr val="2A3A55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24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Decision-support, not financial advice · Paper trading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57200" cy="1097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38BDF8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CF1F8"/>
                </a:solidFill>
                <a:latin typeface="Calibri"/>
              </a:rPr>
              <a:t>A Clean, Typed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4572000" cy="3017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React · Vite · TypeScript · nginx.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Candlestick charts with klinecharts; equity with Recharts.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7 pages: Markets, Signals, Analyst, Chat, Trades, Performance…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…plus an ML Pipeline page — run the whole pipeline in-browser.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▸  </a:t>
            </a:r>
            <a:r>
              <a:rPr sz="1350" b="0">
                <a:solidFill>
                  <a:srgbClr val="ECF1F8"/>
                </a:solidFill>
                <a:latin typeface="Calibri"/>
              </a:rPr>
              <a:t>A disclaimer is on every page.</a:t>
            </a:r>
          </a:p>
        </p:txBody>
      </p:sp>
      <p:pic>
        <p:nvPicPr>
          <p:cNvPr id="6" name="Picture 5" descr="Screenshot 2026-06-06 at 11.39.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680" y="1783080"/>
            <a:ext cx="3963600" cy="2057400"/>
          </a:xfrm>
          <a:prstGeom prst="rect">
            <a:avLst/>
          </a:prstGeom>
          <a:ln w="12700">
            <a:solidFill>
              <a:srgbClr val="2A3A55"/>
            </a:solidFill>
          </a:ln>
        </p:spPr>
      </p:pic>
      <p:pic>
        <p:nvPicPr>
          <p:cNvPr id="7" name="Picture 6" descr="Screenshot 2026-06-06 at 11.40.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680" y="3977639"/>
            <a:ext cx="3963600" cy="2057400"/>
          </a:xfrm>
          <a:prstGeom prst="rect">
            <a:avLst/>
          </a:prstGeom>
          <a:ln w="12700">
            <a:solidFill>
              <a:srgbClr val="2A3A55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24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Decision-support, not financial advice · Paper trading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8368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57200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A78BFA"/>
                </a:solidFill>
                <a:latin typeface="Calibri"/>
              </a:rPr>
              <a:t>THE HONEST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10642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CF1F8"/>
                </a:solidFill>
                <a:latin typeface="Calibri"/>
              </a:rPr>
              <a:t>What It Achieves — Reported Honestly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14300" bIns="10160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A78BFA"/>
                </a:solidFill>
                <a:latin typeface="Calibri"/>
              </a:rPr>
              <a:t>Machine learning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800" b="1">
                <a:solidFill>
                  <a:srgbClr val="ECF1F8"/>
                </a:solidFill>
                <a:latin typeface="Calibri"/>
              </a:rPr>
              <a:t>ROC-AUC  0.578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 b="0">
                <a:solidFill>
                  <a:srgbClr val="9AA8BD"/>
                </a:solidFill>
                <a:latin typeface="Calibri"/>
              </a:rPr>
              <a:t>A small, real edge above luck.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00" b="0">
                <a:solidFill>
                  <a:srgbClr val="9AA8BD"/>
                </a:solidFill>
                <a:latin typeface="Calibri"/>
              </a:rPr>
              <a:t>AUC + Brier pass; F1 limited by ~2y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14300" bIns="10160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38BDF8"/>
                </a:solidFill>
                <a:latin typeface="Calibri"/>
              </a:rPr>
              <a:t>RAG retrieval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800" b="1">
                <a:solidFill>
                  <a:srgbClr val="ECF1F8"/>
                </a:solidFill>
                <a:latin typeface="Calibri"/>
              </a:rPr>
              <a:t>recall@8  0.90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 b="0">
                <a:solidFill>
                  <a:srgbClr val="9AA8BD"/>
                </a:solidFill>
                <a:latin typeface="Calibri"/>
              </a:rPr>
              <a:t>100% of answers cited.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00" b="0">
                <a:solidFill>
                  <a:srgbClr val="9AA8BD"/>
                </a:solidFill>
                <a:latin typeface="Calibri"/>
              </a:rPr>
              <a:t>Refuses the unknown; ≈ €0, local.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9700" rIns="139700" tIns="114300" bIns="101600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34D399"/>
                </a:solidFill>
                <a:latin typeface="Calibri"/>
              </a:rPr>
              <a:t>Engineering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800" b="1">
                <a:solidFill>
                  <a:srgbClr val="ECF1F8"/>
                </a:solidFill>
                <a:latin typeface="Calibri"/>
              </a:rPr>
              <a:t>5 containers · 1 DB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50" b="0">
                <a:solidFill>
                  <a:srgbClr val="9AA8BD"/>
                </a:solidFill>
                <a:latin typeface="Calibri"/>
              </a:rPr>
              <a:t>Tests + CI across 3 languages.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00" b="0">
                <a:solidFill>
                  <a:srgbClr val="9AA8BD"/>
                </a:solidFill>
                <a:latin typeface="Calibri"/>
              </a:rPr>
              <a:t>Backtest honest, engine correct.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34840"/>
            <a:ext cx="11109960" cy="713232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CF1F8"/>
                </a:solidFill>
                <a:latin typeface="Calibri"/>
              </a:rPr>
              <a:t>The goal was production-grade polyglot engineering — built end-to-end and reported honestly.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349240"/>
            <a:ext cx="1097280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▸  </a:t>
            </a:r>
            <a:r>
              <a:rPr sz="1250" b="0">
                <a:solidFill>
                  <a:srgbClr val="ECF1F8"/>
                </a:solidFill>
                <a:latin typeface="Calibri"/>
              </a:rPr>
              <a:t>Hard rules, never broken: paper only · crypto only · no shorts/leverage · decision-support, not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24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Decision-support, not financial advice · Paper trading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83680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66748A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1">
                <a:solidFill>
                  <a:srgbClr val="ECF1F8"/>
                </a:solidFill>
                <a:latin typeface="Calibri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10896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>
                <a:solidFill>
                  <a:srgbClr val="2DD4B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9AA8BD"/>
                </a:solidFill>
                <a:latin typeface="Calibri"/>
              </a:rPr>
              <a:t>CryptoCopilot — four views on every coin, fused into one explainable opinion.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46320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CF1F8"/>
                </a:solidFill>
                <a:latin typeface="Calibri"/>
              </a:rPr>
              <a:t>app  ·  localhost:3000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846320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CF1F8"/>
                </a:solidFill>
                <a:latin typeface="Calibri"/>
              </a:rPr>
              <a:t>API docs  ·  :8080/swagger-ui.html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846320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14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CF1F8"/>
                </a:solidFill>
                <a:latin typeface="Calibri"/>
              </a:rPr>
              <a:t>ML API  ·  :8000/docs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>
                <a:solidFill>
                  <a:srgbClr val="66748A"/>
                </a:solidFill>
                <a:latin typeface="Calibri"/>
              </a:rPr>
              <a:t>Decision-support, not financial advice. Paper trading only — no real money, ever.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